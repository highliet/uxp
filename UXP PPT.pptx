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-516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8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914400" y="365760"/>
            <a:ext cx="0" cy="5943600"/>
          </a:xfrm>
          <a:prstGeom prst="line">
            <a:avLst/>
          </a:prstGeom>
          <a:ln w="4445">
            <a:solidFill>
              <a:srgbClr val="111B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828800" y="365760"/>
            <a:ext cx="0" cy="5943600"/>
          </a:xfrm>
          <a:prstGeom prst="line">
            <a:avLst/>
          </a:prstGeom>
          <a:ln w="4445">
            <a:solidFill>
              <a:srgbClr val="111B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743200" y="365760"/>
            <a:ext cx="0" cy="5943600"/>
          </a:xfrm>
          <a:prstGeom prst="line">
            <a:avLst/>
          </a:prstGeom>
          <a:ln w="4445">
            <a:solidFill>
              <a:srgbClr val="111B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657600" y="365760"/>
            <a:ext cx="0" cy="5943600"/>
          </a:xfrm>
          <a:prstGeom prst="line">
            <a:avLst/>
          </a:prstGeom>
          <a:ln w="4445">
            <a:solidFill>
              <a:srgbClr val="111B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572000" y="365760"/>
            <a:ext cx="0" cy="5943600"/>
          </a:xfrm>
          <a:prstGeom prst="line">
            <a:avLst/>
          </a:prstGeom>
          <a:ln w="4445">
            <a:solidFill>
              <a:srgbClr val="111B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486400" y="365760"/>
            <a:ext cx="0" cy="5943600"/>
          </a:xfrm>
          <a:prstGeom prst="line">
            <a:avLst/>
          </a:prstGeom>
          <a:ln w="4445">
            <a:solidFill>
              <a:srgbClr val="111B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400800" y="365760"/>
            <a:ext cx="0" cy="5943600"/>
          </a:xfrm>
          <a:prstGeom prst="line">
            <a:avLst/>
          </a:prstGeom>
          <a:ln w="4445">
            <a:solidFill>
              <a:srgbClr val="111B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315200" y="365760"/>
            <a:ext cx="0" cy="5943600"/>
          </a:xfrm>
          <a:prstGeom prst="line">
            <a:avLst/>
          </a:prstGeom>
          <a:ln w="4445">
            <a:solidFill>
              <a:srgbClr val="111B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229600" y="365760"/>
            <a:ext cx="0" cy="5943600"/>
          </a:xfrm>
          <a:prstGeom prst="line">
            <a:avLst/>
          </a:prstGeom>
          <a:ln w="4445">
            <a:solidFill>
              <a:srgbClr val="111B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144000" y="365760"/>
            <a:ext cx="0" cy="5943600"/>
          </a:xfrm>
          <a:prstGeom prst="line">
            <a:avLst/>
          </a:prstGeom>
          <a:ln w="4445">
            <a:solidFill>
              <a:srgbClr val="111B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0058400" y="365760"/>
            <a:ext cx="0" cy="5943600"/>
          </a:xfrm>
          <a:prstGeom prst="line">
            <a:avLst/>
          </a:prstGeom>
          <a:ln w="4445">
            <a:solidFill>
              <a:srgbClr val="111B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972800" y="365760"/>
            <a:ext cx="0" cy="5943600"/>
          </a:xfrm>
          <a:prstGeom prst="line">
            <a:avLst/>
          </a:prstGeom>
          <a:ln w="4445">
            <a:solidFill>
              <a:srgbClr val="111B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74320" y="914400"/>
            <a:ext cx="11612880" cy="0"/>
          </a:xfrm>
          <a:prstGeom prst="line">
            <a:avLst/>
          </a:prstGeom>
          <a:ln w="4445">
            <a:solidFill>
              <a:srgbClr val="111B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74320" y="1828800"/>
            <a:ext cx="11612880" cy="0"/>
          </a:xfrm>
          <a:prstGeom prst="line">
            <a:avLst/>
          </a:prstGeom>
          <a:ln w="4445">
            <a:solidFill>
              <a:srgbClr val="111B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74320" y="2743200"/>
            <a:ext cx="11612880" cy="0"/>
          </a:xfrm>
          <a:prstGeom prst="line">
            <a:avLst/>
          </a:prstGeom>
          <a:ln w="4445">
            <a:solidFill>
              <a:srgbClr val="111B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274320" y="3657600"/>
            <a:ext cx="11612880" cy="0"/>
          </a:xfrm>
          <a:prstGeom prst="line">
            <a:avLst/>
          </a:prstGeom>
          <a:ln w="4445">
            <a:solidFill>
              <a:srgbClr val="111B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274320" y="4572000"/>
            <a:ext cx="11612880" cy="0"/>
          </a:xfrm>
          <a:prstGeom prst="line">
            <a:avLst/>
          </a:prstGeom>
          <a:ln w="4445">
            <a:solidFill>
              <a:srgbClr val="111B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74320" y="5486400"/>
            <a:ext cx="11612880" cy="0"/>
          </a:xfrm>
          <a:prstGeom prst="line">
            <a:avLst/>
          </a:prstGeom>
          <a:ln w="4445">
            <a:solidFill>
              <a:srgbClr val="111B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Hexagon 20"/>
          <p:cNvSpPr/>
          <p:nvPr/>
        </p:nvSpPr>
        <p:spPr>
          <a:xfrm>
            <a:off x="8458200" y="1143000"/>
            <a:ext cx="2286000" cy="2286000"/>
          </a:xfrm>
          <a:prstGeom prst="hexagon">
            <a:avLst/>
          </a:prstGeom>
          <a:solidFill>
            <a:srgbClr val="0C1322"/>
          </a:solidFill>
          <a:ln w="25400">
            <a:solidFill>
              <a:srgbClr val="00E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Hexagon 21"/>
          <p:cNvSpPr/>
          <p:nvPr/>
        </p:nvSpPr>
        <p:spPr>
          <a:xfrm>
            <a:off x="8764524" y="1481328"/>
            <a:ext cx="1609344" cy="1609344"/>
          </a:xfrm>
          <a:prstGeom prst="hexagon">
            <a:avLst/>
          </a:prstGeom>
          <a:solidFill>
            <a:srgbClr val="111B2F"/>
          </a:solidFill>
          <a:ln w="19050">
            <a:solidFill>
              <a:srgbClr val="B94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851392" y="1810956"/>
            <a:ext cx="1463040" cy="53860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900" b="1" dirty="0" smtClean="0">
                <a:solidFill>
                  <a:srgbClr val="00EFFF"/>
                </a:solidFill>
                <a:latin typeface="Aptos"/>
              </a:rPr>
              <a:t>UX</a:t>
            </a:r>
            <a:r>
              <a:rPr lang="en-US" sz="2900" b="1" dirty="0">
                <a:solidFill>
                  <a:srgbClr val="00EFFF"/>
                </a:solidFill>
                <a:latin typeface="Aptos"/>
              </a:rPr>
              <a:t>P</a:t>
            </a:r>
            <a:endParaRPr sz="2900" b="1" dirty="0">
              <a:solidFill>
                <a:srgbClr val="00EFFF"/>
              </a:solidFill>
              <a:latin typeface="Aptos"/>
            </a:endParaRPr>
          </a:p>
        </p:txBody>
      </p:sp>
      <p:cxnSp>
        <p:nvCxnSpPr>
          <p:cNvPr id="25" name="Connector 24"/>
          <p:cNvCxnSpPr/>
          <p:nvPr/>
        </p:nvCxnSpPr>
        <p:spPr>
          <a:xfrm flipH="1">
            <a:off x="8138160" y="3456432"/>
            <a:ext cx="1463040" cy="429768"/>
          </a:xfrm>
          <a:prstGeom prst="line">
            <a:avLst/>
          </a:prstGeom>
          <a:ln w="22860">
            <a:solidFill>
              <a:srgbClr val="00EFF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7818120" y="3886200"/>
            <a:ext cx="640080" cy="640080"/>
          </a:xfrm>
          <a:prstGeom prst="ellipse">
            <a:avLst/>
          </a:prstGeom>
          <a:solidFill>
            <a:srgbClr val="00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818120" y="3886200"/>
            <a:ext cx="640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050811"/>
                </a:solidFill>
                <a:latin typeface="Aptos"/>
              </a:rPr>
              <a:t>PC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601200" y="3456432"/>
            <a:ext cx="1325880" cy="429768"/>
          </a:xfrm>
          <a:prstGeom prst="line">
            <a:avLst/>
          </a:prstGeom>
          <a:ln w="22860">
            <a:solidFill>
              <a:srgbClr val="FF2D9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10607040" y="3886200"/>
            <a:ext cx="640080" cy="640080"/>
          </a:xfrm>
          <a:prstGeom prst="ellipse">
            <a:avLst/>
          </a:prstGeom>
          <a:solidFill>
            <a:srgbClr val="FF2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607040" y="3886200"/>
            <a:ext cx="640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050811"/>
                </a:solidFill>
                <a:latin typeface="Aptos"/>
              </a:rPr>
              <a:t>MOB</a:t>
            </a:r>
          </a:p>
        </p:txBody>
      </p:sp>
      <p:cxnSp>
        <p:nvCxnSpPr>
          <p:cNvPr id="31" name="Connector 30"/>
          <p:cNvCxnSpPr/>
          <p:nvPr/>
        </p:nvCxnSpPr>
        <p:spPr>
          <a:xfrm flipH="1">
            <a:off x="9537192" y="3456432"/>
            <a:ext cx="64008" cy="1280160"/>
          </a:xfrm>
          <a:prstGeom prst="line">
            <a:avLst/>
          </a:prstGeom>
          <a:ln w="22860">
            <a:solidFill>
              <a:srgbClr val="39FFA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9217152" y="4736592"/>
            <a:ext cx="640080" cy="640080"/>
          </a:xfrm>
          <a:prstGeom prst="ellipse">
            <a:avLst/>
          </a:prstGeom>
          <a:solidFill>
            <a:srgbClr val="39F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17152" y="4736592"/>
            <a:ext cx="640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050811"/>
                </a:solidFill>
                <a:latin typeface="Aptos"/>
              </a:rPr>
              <a:t>TAB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20240" y="868680"/>
            <a:ext cx="4937760" cy="1046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6200" b="1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Cascadia Code" pitchFamily="49" charset="0"/>
                <a:ea typeface="Cascadia Code" pitchFamily="49" charset="0"/>
                <a:cs typeface="Cascadia Code" pitchFamily="49" charset="0"/>
              </a:rPr>
              <a:t> </a:t>
            </a:r>
            <a:r>
              <a:rPr sz="6200" b="1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Cascadia Code" pitchFamily="49" charset="0"/>
                <a:ea typeface="Cascadia Code" pitchFamily="49" charset="0"/>
                <a:cs typeface="Cascadia Code" pitchFamily="49" charset="0"/>
              </a:rPr>
              <a:t>UXP</a:t>
            </a:r>
            <a:endParaRPr sz="6200" b="1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Cascadia Code" pitchFamily="49" charset="0"/>
              <a:ea typeface="Cascadia Code" pitchFamily="49" charset="0"/>
              <a:cs typeface="Cascadia Code" pitchFamily="49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822960" y="1828800"/>
            <a:ext cx="68580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0EFFF"/>
                </a:solidFill>
                <a:latin typeface="Aptos"/>
              </a:rPr>
              <a:t>UNIVERSALLY eXPERIENCE-ABLE PROGRAM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2606040"/>
            <a:ext cx="7132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EDF7FF"/>
                </a:solidFill>
                <a:latin typeface="Aptos"/>
              </a:rPr>
              <a:t>A UNIVERSAL APPLICATION LAYER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248" y="3337560"/>
            <a:ext cx="6766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1A6BE"/>
                </a:solidFill>
                <a:latin typeface="Aptos"/>
              </a:rPr>
              <a:t>One application model. A common API contract. Multiple supported devices.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41248" y="4251960"/>
            <a:ext cx="4069080" cy="329184"/>
          </a:xfrm>
          <a:prstGeom prst="roundRect">
            <a:avLst/>
          </a:prstGeom>
          <a:solidFill>
            <a:srgbClr val="111B2F"/>
          </a:solidFill>
          <a:ln w="12700">
            <a:solidFill>
              <a:srgbClr val="00E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09828" y="4279392"/>
            <a:ext cx="4069080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00EFFF"/>
                </a:solidFill>
                <a:latin typeface="Aptos"/>
              </a:rPr>
              <a:t>BUILD ONCE  /  EXPERIENCE EVERYWHERE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4608576"/>
            <a:ext cx="5029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dirty="0">
                <a:solidFill>
                  <a:srgbClr val="FFBE37"/>
                </a:solidFill>
                <a:latin typeface="Aptos"/>
              </a:rPr>
              <a:t>NATIONAL-LEVEL STUDENT INNOVATION PROJECT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1248" y="5623560"/>
            <a:ext cx="640080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dirty="0" smtClean="0">
                <a:solidFill>
                  <a:srgbClr val="EDF7FF"/>
                </a:solidFill>
                <a:latin typeface="Aptos"/>
              </a:rPr>
              <a:t>S</a:t>
            </a:r>
            <a:r>
              <a:rPr lang="en-US" sz="1000" b="1" dirty="0" smtClean="0">
                <a:solidFill>
                  <a:srgbClr val="EDF7FF"/>
                </a:solidFill>
                <a:latin typeface="Aptos"/>
              </a:rPr>
              <a:t>HASHWAT ACHARYA</a:t>
            </a:r>
            <a:r>
              <a:rPr sz="1000" b="1" dirty="0" smtClean="0">
                <a:solidFill>
                  <a:srgbClr val="EDF7FF"/>
                </a:solidFill>
                <a:latin typeface="Aptos"/>
              </a:rPr>
              <a:t>  </a:t>
            </a:r>
            <a:r>
              <a:rPr sz="1000" b="1" dirty="0">
                <a:solidFill>
                  <a:srgbClr val="EDF7FF"/>
                </a:solidFill>
                <a:latin typeface="Aptos"/>
              </a:rPr>
              <a:t>•  RIDDHIT DAS  •  ABU REHAN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1248" y="5989320"/>
            <a:ext cx="4206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39FFA6"/>
                </a:solidFill>
                <a:latin typeface="Aptos"/>
              </a:rPr>
              <a:t>NARAYANA SCHOOL – FULBARI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387348" y="5133540"/>
            <a:ext cx="26035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  <a:latin typeface="Isometra" pitchFamily="2" charset="0"/>
              </a:rPr>
              <a:t>NEXTGEN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8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00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" cy="6858000"/>
          </a:xfrm>
          <a:prstGeom prst="rect">
            <a:avLst/>
          </a:prstGeom>
          <a:solidFill>
            <a:srgbClr val="B94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247120" y="164592"/>
            <a:ext cx="73152" cy="73152"/>
          </a:xfrm>
          <a:prstGeom prst="ellipse">
            <a:avLst/>
          </a:prstGeom>
          <a:solidFill>
            <a:srgbClr val="00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448288" y="164592"/>
            <a:ext cx="73152" cy="73152"/>
          </a:xfrm>
          <a:prstGeom prst="ellipse">
            <a:avLst/>
          </a:prstGeom>
          <a:solidFill>
            <a:srgbClr val="FF2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649456" y="164592"/>
            <a:ext cx="73152" cy="73152"/>
          </a:xfrm>
          <a:prstGeom prst="ellipse">
            <a:avLst/>
          </a:prstGeom>
          <a:solidFill>
            <a:srgbClr val="39F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274320"/>
            <a:ext cx="4572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00EFFF"/>
                </a:solidFill>
                <a:latin typeface="Aptos"/>
              </a:rPr>
              <a:t>UXP // THE VISION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384048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FF2D91"/>
                </a:solidFill>
                <a:latin typeface="Aptos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66928"/>
            <a:ext cx="106984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EDF7FF"/>
                </a:solidFill>
                <a:latin typeface="Aptos"/>
              </a:rPr>
              <a:t>The Vision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069848"/>
            <a:ext cx="106070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91A6BE"/>
                </a:solidFill>
                <a:latin typeface="Aptos"/>
              </a:rPr>
              <a:t>A universal application experience across supported devices.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94360" y="6400800"/>
            <a:ext cx="10972800" cy="0"/>
          </a:xfrm>
          <a:prstGeom prst="line">
            <a:avLst/>
          </a:prstGeom>
          <a:ln w="10160">
            <a:solidFill>
              <a:srgbClr val="111B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21792" y="6492240"/>
            <a:ext cx="41148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91A6BE"/>
                </a:solidFill>
                <a:latin typeface="Aptos"/>
              </a:rPr>
              <a:t>UNIVERSALLY eXPERIENCE-ABLE PROGRAM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0" y="6492240"/>
            <a:ext cx="393192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0">
                <a:solidFill>
                  <a:srgbClr val="91A6BE"/>
                </a:solidFill>
                <a:latin typeface="Aptos"/>
              </a:rPr>
              <a:t>NARAYANA SCHOOL – FULBARI  •  2026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1600200"/>
            <a:ext cx="10744200" cy="1828800"/>
          </a:xfrm>
          <a:prstGeom prst="roundRect">
            <a:avLst/>
          </a:prstGeom>
          <a:solidFill>
            <a:srgbClr val="0C1322"/>
          </a:solidFill>
          <a:ln w="12700">
            <a:solidFill>
              <a:srgbClr val="00E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51560" y="1965960"/>
            <a:ext cx="1005840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>
                <a:solidFill>
                  <a:srgbClr val="EDF7FF"/>
                </a:solidFill>
                <a:latin typeface="Aptos"/>
              </a:rPr>
              <a:t>WHAT IF ONE APPLICATION COULD RUN ACROSS DEVICES—WITHOUT REBUILDING ITS CORE FOR EVERY PLATFORM?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977639"/>
            <a:ext cx="3383280" cy="1234440"/>
          </a:xfrm>
          <a:prstGeom prst="roundRect">
            <a:avLst/>
          </a:prstGeom>
          <a:solidFill>
            <a:srgbClr val="0C1322"/>
          </a:solidFill>
          <a:ln w="12700">
            <a:solidFill>
              <a:srgbClr val="00E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4251960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00EFFF"/>
                </a:solidFill>
                <a:latin typeface="Aptos"/>
              </a:rPr>
              <a:t>ONE FORMAT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645152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EDF7FF"/>
                </a:solidFill>
                <a:latin typeface="Aptos"/>
              </a:rPr>
              <a:t>A shared app package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0" y="3977639"/>
            <a:ext cx="3383280" cy="1234440"/>
          </a:xfrm>
          <a:prstGeom prst="roundRect">
            <a:avLst/>
          </a:prstGeom>
          <a:solidFill>
            <a:srgbClr val="0C1322"/>
          </a:solidFill>
          <a:ln w="12700">
            <a:solidFill>
              <a:srgbClr val="B94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709160" y="4251960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B94BFF"/>
                </a:solidFill>
                <a:latin typeface="Aptos"/>
              </a:rPr>
              <a:t>ONE API MODEL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0" y="4645152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EDF7FF"/>
                </a:solidFill>
                <a:latin typeface="Aptos"/>
              </a:rPr>
              <a:t>A predictable developer contract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66760" y="3977639"/>
            <a:ext cx="3383280" cy="1234440"/>
          </a:xfrm>
          <a:prstGeom prst="roundRect">
            <a:avLst/>
          </a:prstGeom>
          <a:solidFill>
            <a:srgbClr val="0C1322"/>
          </a:solidFill>
          <a:ln w="12700">
            <a:solidFill>
              <a:srgbClr val="39F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503920" y="4251960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39FFA6"/>
                </a:solidFill>
                <a:latin typeface="Aptos"/>
              </a:rPr>
              <a:t>MANY DEVICES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49640" y="4645152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EDF7FF"/>
                </a:solidFill>
                <a:latin typeface="Aptos"/>
              </a:rPr>
              <a:t>Runtime bridges platform differences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742432"/>
            <a:ext cx="10241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FFBE37"/>
                </a:solidFill>
                <a:latin typeface="Aptos"/>
              </a:rPr>
              <a:t>UXP is a proposed platform architecture; its core claim must be proven through a working prototype.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8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00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" cy="6858000"/>
          </a:xfrm>
          <a:prstGeom prst="rect">
            <a:avLst/>
          </a:prstGeom>
          <a:solidFill>
            <a:srgbClr val="B94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247120" y="164592"/>
            <a:ext cx="73152" cy="73152"/>
          </a:xfrm>
          <a:prstGeom prst="ellipse">
            <a:avLst/>
          </a:prstGeom>
          <a:solidFill>
            <a:srgbClr val="00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448288" y="164592"/>
            <a:ext cx="73152" cy="73152"/>
          </a:xfrm>
          <a:prstGeom prst="ellipse">
            <a:avLst/>
          </a:prstGeom>
          <a:solidFill>
            <a:srgbClr val="FF2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649456" y="164592"/>
            <a:ext cx="73152" cy="73152"/>
          </a:xfrm>
          <a:prstGeom prst="ellipse">
            <a:avLst/>
          </a:prstGeom>
          <a:solidFill>
            <a:srgbClr val="39F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274320"/>
            <a:ext cx="4572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00EFFF"/>
                </a:solidFill>
                <a:latin typeface="Aptos"/>
              </a:rPr>
              <a:t>UXP // EXECUTIVE SUMMARY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384048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FF2D91"/>
                </a:solidFill>
                <a:latin typeface="Aptos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66928"/>
            <a:ext cx="106984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EDF7FF"/>
                </a:solidFill>
                <a:latin typeface="Aptos"/>
              </a:rPr>
              <a:t>Executive Summary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069848"/>
            <a:ext cx="106070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91A6BE"/>
                </a:solidFill>
                <a:latin typeface="Aptos"/>
              </a:rPr>
              <a:t>The project in five points.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94360" y="6400800"/>
            <a:ext cx="10972800" cy="0"/>
          </a:xfrm>
          <a:prstGeom prst="line">
            <a:avLst/>
          </a:prstGeom>
          <a:ln w="10160">
            <a:solidFill>
              <a:srgbClr val="111B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21792" y="6492240"/>
            <a:ext cx="41148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91A6BE"/>
                </a:solidFill>
                <a:latin typeface="Aptos"/>
              </a:rPr>
              <a:t>UNIVERSALLY eXPERIENCE-ABLE PROGRAM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0" y="6492240"/>
            <a:ext cx="393192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0">
                <a:solidFill>
                  <a:srgbClr val="91A6BE"/>
                </a:solidFill>
                <a:latin typeface="Aptos"/>
              </a:rPr>
              <a:t>NARAYANA SCHOOL – FULBARI  •  2026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1554480"/>
            <a:ext cx="384048" cy="384048"/>
          </a:xfrm>
          <a:prstGeom prst="ellipse">
            <a:avLst/>
          </a:prstGeom>
          <a:solidFill>
            <a:srgbClr val="00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1554480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050811"/>
                </a:solidFill>
                <a:latin typeface="Aptos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1527048"/>
            <a:ext cx="164592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00EFFF"/>
                </a:solidFill>
                <a:latin typeface="Aptos"/>
              </a:rPr>
              <a:t>PROBLEM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54680" y="1508760"/>
            <a:ext cx="777240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EDF7FF"/>
                </a:solidFill>
                <a:latin typeface="Aptos"/>
              </a:rPr>
              <a:t>Different OS APIs, packaging and testing can duplicate engineering work.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417320" y="2112264"/>
            <a:ext cx="9646920" cy="0"/>
          </a:xfrm>
          <a:prstGeom prst="line">
            <a:avLst/>
          </a:prstGeom>
          <a:ln w="8890">
            <a:solidFill>
              <a:srgbClr val="111B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822960" y="2395727"/>
            <a:ext cx="384048" cy="384048"/>
          </a:xfrm>
          <a:prstGeom prst="ellipse">
            <a:avLst/>
          </a:prstGeom>
          <a:solidFill>
            <a:srgbClr val="B94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60" y="2395727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050811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2368296"/>
            <a:ext cx="164592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B94BFF"/>
                </a:solidFill>
                <a:latin typeface="Aptos"/>
              </a:rPr>
              <a:t>SOLUTION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54680" y="2350008"/>
            <a:ext cx="777240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EDF7FF"/>
                </a:solidFill>
                <a:latin typeface="Aptos"/>
              </a:rPr>
              <a:t>Common UXP package, standard APIs and a platform runtime.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417320" y="2953512"/>
            <a:ext cx="9646920" cy="0"/>
          </a:xfrm>
          <a:prstGeom prst="line">
            <a:avLst/>
          </a:prstGeom>
          <a:ln w="8890">
            <a:solidFill>
              <a:srgbClr val="111B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822960" y="3236976"/>
            <a:ext cx="384048" cy="384048"/>
          </a:xfrm>
          <a:prstGeom prst="ellipse">
            <a:avLst/>
          </a:prstGeom>
          <a:solidFill>
            <a:srgbClr val="39F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2960" y="3236976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050811"/>
                </a:solidFill>
                <a:latin typeface="Aptos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17320" y="3209544"/>
            <a:ext cx="164592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39FFA6"/>
                </a:solidFill>
                <a:latin typeface="Aptos"/>
              </a:rPr>
              <a:t>INNOVATION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54680" y="3191256"/>
            <a:ext cx="777240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EDF7FF"/>
                </a:solidFill>
                <a:latin typeface="Aptos"/>
              </a:rPr>
              <a:t>Language flexibility inside one defined application model.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417320" y="3794760"/>
            <a:ext cx="9646920" cy="0"/>
          </a:xfrm>
          <a:prstGeom prst="line">
            <a:avLst/>
          </a:prstGeom>
          <a:ln w="8890">
            <a:solidFill>
              <a:srgbClr val="111B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822960" y="4078224"/>
            <a:ext cx="384048" cy="384048"/>
          </a:xfrm>
          <a:prstGeom prst="ellipse">
            <a:avLst/>
          </a:prstGeom>
          <a:solidFill>
            <a:srgbClr val="FF2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22960" y="4078224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050811"/>
                </a:solidFill>
                <a:latin typeface="Aptos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17320" y="4050791"/>
            <a:ext cx="164592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FF2D91"/>
                </a:solidFill>
                <a:latin typeface="Aptos"/>
              </a:rPr>
              <a:t>VALIDATION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154680" y="4032504"/>
            <a:ext cx="777240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EDF7FF"/>
                </a:solidFill>
                <a:latin typeface="Aptos"/>
              </a:rPr>
              <a:t>Same sample package runs on desktop and mobile.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1417320" y="4636008"/>
            <a:ext cx="9646920" cy="0"/>
          </a:xfrm>
          <a:prstGeom prst="line">
            <a:avLst/>
          </a:prstGeom>
          <a:ln w="8890">
            <a:solidFill>
              <a:srgbClr val="111B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822960" y="4919472"/>
            <a:ext cx="384048" cy="384048"/>
          </a:xfrm>
          <a:prstGeom prst="ellipse">
            <a:avLst/>
          </a:prstGeom>
          <a:solidFill>
            <a:srgbClr val="FFB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22960" y="4919472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050811"/>
                </a:solidFill>
                <a:latin typeface="Aptos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17320" y="4892040"/>
            <a:ext cx="164592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FFBE37"/>
                </a:solidFill>
                <a:latin typeface="Aptos"/>
              </a:rPr>
              <a:t>IMPACT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154680" y="4873752"/>
            <a:ext cx="777240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EDF7FF"/>
                </a:solidFill>
                <a:latin typeface="Aptos"/>
              </a:rPr>
              <a:t>Potentially simpler development and maintenance.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8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00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" cy="6858000"/>
          </a:xfrm>
          <a:prstGeom prst="rect">
            <a:avLst/>
          </a:prstGeom>
          <a:solidFill>
            <a:srgbClr val="B94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247120" y="164592"/>
            <a:ext cx="73152" cy="73152"/>
          </a:xfrm>
          <a:prstGeom prst="ellipse">
            <a:avLst/>
          </a:prstGeom>
          <a:solidFill>
            <a:srgbClr val="00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448288" y="164592"/>
            <a:ext cx="73152" cy="73152"/>
          </a:xfrm>
          <a:prstGeom prst="ellipse">
            <a:avLst/>
          </a:prstGeom>
          <a:solidFill>
            <a:srgbClr val="FF2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649456" y="164592"/>
            <a:ext cx="73152" cy="73152"/>
          </a:xfrm>
          <a:prstGeom prst="ellipse">
            <a:avLst/>
          </a:prstGeom>
          <a:solidFill>
            <a:srgbClr val="39F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274320"/>
            <a:ext cx="4572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00EFFF"/>
                </a:solidFill>
                <a:latin typeface="Aptos"/>
              </a:rPr>
              <a:t>UXP // PROBLEM STATEMENT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384048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FF2D91"/>
                </a:solidFill>
                <a:latin typeface="Aptos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66928"/>
            <a:ext cx="106984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EDF7FF"/>
                </a:solidFill>
                <a:latin typeface="Aptos"/>
              </a:rPr>
              <a:t>Problem Statement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069848"/>
            <a:ext cx="106070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91A6BE"/>
                </a:solidFill>
                <a:latin typeface="Aptos"/>
              </a:rPr>
              <a:t>Platform fragmentation creates repeated engineering work.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94360" y="6400800"/>
            <a:ext cx="10972800" cy="0"/>
          </a:xfrm>
          <a:prstGeom prst="line">
            <a:avLst/>
          </a:prstGeom>
          <a:ln w="10160">
            <a:solidFill>
              <a:srgbClr val="111B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21792" y="6492240"/>
            <a:ext cx="41148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91A6BE"/>
                </a:solidFill>
                <a:latin typeface="Aptos"/>
              </a:rPr>
              <a:t>UNIVERSALLY eXPERIENCE-ABLE PROGRAM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0" y="6492240"/>
            <a:ext cx="393192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0">
                <a:solidFill>
                  <a:srgbClr val="91A6BE"/>
                </a:solidFill>
                <a:latin typeface="Aptos"/>
              </a:rPr>
              <a:t>NARAYANA SCHOOL – FULBARI  •  2026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1554480"/>
            <a:ext cx="5120640" cy="4526280"/>
          </a:xfrm>
          <a:prstGeom prst="roundRect">
            <a:avLst/>
          </a:prstGeom>
          <a:solidFill>
            <a:srgbClr val="0C1322"/>
          </a:solidFill>
          <a:ln w="12700">
            <a:solidFill>
              <a:srgbClr val="FF2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51560" y="182880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2D91"/>
                </a:solidFill>
                <a:latin typeface="Aptos"/>
              </a:rPr>
              <a:t>TODAY'S CHALLENGE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2331720"/>
            <a:ext cx="43434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80">
                <a:solidFill>
                  <a:srgbClr val="EDF7FF"/>
                </a:solidFill>
                <a:latin typeface="Aptos"/>
              </a:defRPr>
            </a:pPr>
            <a:r>
              <a:t>›  Different platforms expose different system APIs and package rules.</a:t>
            </a:r>
          </a:p>
          <a:p>
            <a:pPr>
              <a:spcAft>
                <a:spcPts val="700"/>
              </a:spcAft>
              <a:defRPr sz="1280">
                <a:solidFill>
                  <a:srgbClr val="EDF7FF"/>
                </a:solidFill>
                <a:latin typeface="Aptos"/>
              </a:defRPr>
            </a:pPr>
            <a:r>
              <a:t>›  Teams may maintain separate builds, integrations and test workflows.</a:t>
            </a:r>
          </a:p>
          <a:p>
            <a:pPr>
              <a:spcAft>
                <a:spcPts val="700"/>
              </a:spcAft>
              <a:defRPr sz="1280">
                <a:solidFill>
                  <a:srgbClr val="EDF7FF"/>
                </a:solidFill>
                <a:latin typeface="Aptos"/>
              </a:defRPr>
            </a:pPr>
            <a:r>
              <a:t>›  Feature parity can drift between versions.</a:t>
            </a:r>
          </a:p>
          <a:p>
            <a:pPr>
              <a:spcAft>
                <a:spcPts val="700"/>
              </a:spcAft>
              <a:defRPr sz="1280">
                <a:solidFill>
                  <a:srgbClr val="EDF7FF"/>
                </a:solidFill>
                <a:latin typeface="Aptos"/>
              </a:defRPr>
            </a:pPr>
            <a:r>
              <a:t>›  Small teams have limited time to support every target.</a:t>
            </a:r>
          </a:p>
          <a:p>
            <a:pPr>
              <a:spcAft>
                <a:spcPts val="700"/>
              </a:spcAft>
              <a:defRPr sz="1280">
                <a:solidFill>
                  <a:srgbClr val="EDF7FF"/>
                </a:solidFill>
                <a:latin typeface="Aptos"/>
              </a:defRPr>
            </a:pPr>
            <a:r>
              <a:t>›  Updates and fixes can require repeated platform-specific work.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1554480"/>
            <a:ext cx="5212080" cy="4526280"/>
          </a:xfrm>
          <a:prstGeom prst="roundRect">
            <a:avLst/>
          </a:prstGeom>
          <a:solidFill>
            <a:srgbClr val="0C1322"/>
          </a:solidFill>
          <a:ln w="12700">
            <a:solidFill>
              <a:srgbClr val="00E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37960" y="1828800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0EFFF"/>
                </a:solidFill>
                <a:latin typeface="Aptos"/>
              </a:rPr>
              <a:t>THE GAP UXP TARGETS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2331720"/>
            <a:ext cx="43434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EDF7FF"/>
                </a:solidFill>
                <a:latin typeface="Aptos"/>
              </a:rPr>
              <a:t>The missing piece is not only a shared interface.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3200400"/>
            <a:ext cx="425196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1A6BE"/>
                </a:solidFill>
                <a:latin typeface="Aptos"/>
              </a:rPr>
              <a:t>UXP proposes a standard application contract and runtime boundary so apps can target one model while runtimes handle supported platform differences.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37960" y="5074920"/>
            <a:ext cx="4343400" cy="329184"/>
          </a:xfrm>
          <a:prstGeom prst="roundRect">
            <a:avLst/>
          </a:prstGeom>
          <a:solidFill>
            <a:srgbClr val="111B2F"/>
          </a:solidFill>
          <a:ln w="12700">
            <a:solidFill>
              <a:srgbClr val="00E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37960" y="5106924"/>
            <a:ext cx="4343400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00EFFF"/>
                </a:solidFill>
                <a:latin typeface="Aptos"/>
              </a:rPr>
              <a:t>CORE PROBLEM: DUPLICATED PLATFORM ADAPTATION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8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00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" cy="6858000"/>
          </a:xfrm>
          <a:prstGeom prst="rect">
            <a:avLst/>
          </a:prstGeom>
          <a:solidFill>
            <a:srgbClr val="B94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247120" y="164592"/>
            <a:ext cx="73152" cy="73152"/>
          </a:xfrm>
          <a:prstGeom prst="ellipse">
            <a:avLst/>
          </a:prstGeom>
          <a:solidFill>
            <a:srgbClr val="00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448288" y="164592"/>
            <a:ext cx="73152" cy="73152"/>
          </a:xfrm>
          <a:prstGeom prst="ellipse">
            <a:avLst/>
          </a:prstGeom>
          <a:solidFill>
            <a:srgbClr val="FF2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649456" y="164592"/>
            <a:ext cx="73152" cy="73152"/>
          </a:xfrm>
          <a:prstGeom prst="ellipse">
            <a:avLst/>
          </a:prstGeom>
          <a:solidFill>
            <a:srgbClr val="39F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274320"/>
            <a:ext cx="4572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00EFFF"/>
                </a:solidFill>
                <a:latin typeface="Aptos"/>
              </a:rPr>
              <a:t>UXP // WHO FACES THE PROBLEM?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384048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FF2D91"/>
                </a:solidFill>
                <a:latin typeface="Aptos"/>
              </a:rP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66928"/>
            <a:ext cx="106984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EDF7FF"/>
                </a:solidFill>
                <a:latin typeface="Aptos"/>
              </a:rPr>
              <a:t>Who Faces the Problem?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069848"/>
            <a:ext cx="106070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91A6BE"/>
                </a:solidFill>
                <a:latin typeface="Aptos"/>
              </a:rPr>
              <a:t>UXP is intended for multiple stakeholders.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94360" y="6400800"/>
            <a:ext cx="10972800" cy="0"/>
          </a:xfrm>
          <a:prstGeom prst="line">
            <a:avLst/>
          </a:prstGeom>
          <a:ln w="10160">
            <a:solidFill>
              <a:srgbClr val="111B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21792" y="6492240"/>
            <a:ext cx="41148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91A6BE"/>
                </a:solidFill>
                <a:latin typeface="Aptos"/>
              </a:rPr>
              <a:t>UNIVERSALLY eXPERIENCE-ABLE PROGRAM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0" y="6492240"/>
            <a:ext cx="393192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0">
                <a:solidFill>
                  <a:srgbClr val="91A6BE"/>
                </a:solidFill>
                <a:latin typeface="Aptos"/>
              </a:rPr>
              <a:t>NARAYANA SCHOOL – FULBARI  •  2026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1691640"/>
            <a:ext cx="5074920" cy="1600200"/>
          </a:xfrm>
          <a:prstGeom prst="roundRect">
            <a:avLst/>
          </a:prstGeom>
          <a:solidFill>
            <a:srgbClr val="0C1322"/>
          </a:solidFill>
          <a:ln w="12700">
            <a:solidFill>
              <a:srgbClr val="00E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87552" y="1965960"/>
            <a:ext cx="4480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0EFFF"/>
                </a:solidFill>
                <a:latin typeface="Aptos"/>
              </a:rPr>
              <a:t>STUDENT / INDIE DEV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" y="2468880"/>
            <a:ext cx="4480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EDF7FF"/>
                </a:solidFill>
                <a:latin typeface="Aptos"/>
              </a:rPr>
              <a:t>Limited time, many target devices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1691640"/>
            <a:ext cx="5074920" cy="1600200"/>
          </a:xfrm>
          <a:prstGeom prst="roundRect">
            <a:avLst/>
          </a:prstGeom>
          <a:solidFill>
            <a:srgbClr val="0C1322"/>
          </a:solidFill>
          <a:ln w="12700">
            <a:solidFill>
              <a:srgbClr val="B94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19672" y="1965960"/>
            <a:ext cx="4480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B94BFF"/>
                </a:solidFill>
                <a:latin typeface="Aptos"/>
              </a:rPr>
              <a:t>STARTUP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9672" y="2468880"/>
            <a:ext cx="4480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EDF7FF"/>
                </a:solidFill>
                <a:latin typeface="Aptos"/>
              </a:rPr>
              <a:t>Small team, high maintenance load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703320"/>
            <a:ext cx="5074920" cy="1600200"/>
          </a:xfrm>
          <a:prstGeom prst="roundRect">
            <a:avLst/>
          </a:prstGeom>
          <a:solidFill>
            <a:srgbClr val="0C1322"/>
          </a:solidFill>
          <a:ln w="12700">
            <a:solidFill>
              <a:srgbClr val="FF2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87552" y="3977640"/>
            <a:ext cx="4480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F2D91"/>
                </a:solidFill>
                <a:latin typeface="Aptos"/>
              </a:rPr>
              <a:t>SOFTWARE TEAM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" y="4480560"/>
            <a:ext cx="4480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EDF7FF"/>
                </a:solidFill>
                <a:latin typeface="Aptos"/>
              </a:rPr>
              <a:t>Separate release and test pipelines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3703320"/>
            <a:ext cx="5074920" cy="1600200"/>
          </a:xfrm>
          <a:prstGeom prst="roundRect">
            <a:avLst/>
          </a:prstGeom>
          <a:solidFill>
            <a:srgbClr val="0C1322"/>
          </a:solidFill>
          <a:ln w="12700">
            <a:solidFill>
              <a:srgbClr val="39F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19672" y="3977640"/>
            <a:ext cx="4480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9FFA6"/>
                </a:solidFill>
                <a:latin typeface="Aptos"/>
              </a:rPr>
              <a:t>ORGANIZATION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9672" y="4480560"/>
            <a:ext cx="4480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EDF7FF"/>
                </a:solidFill>
                <a:latin typeface="Aptos"/>
              </a:rPr>
              <a:t>Mixed devices and deployment needs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8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00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" cy="6858000"/>
          </a:xfrm>
          <a:prstGeom prst="rect">
            <a:avLst/>
          </a:prstGeom>
          <a:solidFill>
            <a:srgbClr val="B94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247120" y="164592"/>
            <a:ext cx="73152" cy="73152"/>
          </a:xfrm>
          <a:prstGeom prst="ellipse">
            <a:avLst/>
          </a:prstGeom>
          <a:solidFill>
            <a:srgbClr val="00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448288" y="164592"/>
            <a:ext cx="73152" cy="73152"/>
          </a:xfrm>
          <a:prstGeom prst="ellipse">
            <a:avLst/>
          </a:prstGeom>
          <a:solidFill>
            <a:srgbClr val="FF2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649456" y="164592"/>
            <a:ext cx="73152" cy="73152"/>
          </a:xfrm>
          <a:prstGeom prst="ellipse">
            <a:avLst/>
          </a:prstGeom>
          <a:solidFill>
            <a:srgbClr val="39F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274320"/>
            <a:ext cx="4572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00EFFF"/>
                </a:solidFill>
                <a:latin typeface="Aptos"/>
              </a:rPr>
              <a:t>UXP // PROPOSED SOLUTION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384048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FF2D91"/>
                </a:solidFill>
                <a:latin typeface="Aptos"/>
              </a:rPr>
              <a:t>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66928"/>
            <a:ext cx="106984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EDF7FF"/>
                </a:solidFill>
                <a:latin typeface="Aptos"/>
              </a:rPr>
              <a:t>Proposed Solution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069848"/>
            <a:ext cx="106070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91A6BE"/>
                </a:solidFill>
                <a:latin typeface="Aptos"/>
              </a:rPr>
              <a:t>UXP separates application intent from platform-specific execution.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94360" y="6400800"/>
            <a:ext cx="10972800" cy="0"/>
          </a:xfrm>
          <a:prstGeom prst="line">
            <a:avLst/>
          </a:prstGeom>
          <a:ln w="10160">
            <a:solidFill>
              <a:srgbClr val="111B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21792" y="6492240"/>
            <a:ext cx="41148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91A6BE"/>
                </a:solidFill>
                <a:latin typeface="Aptos"/>
              </a:rPr>
              <a:t>UNIVERSALLY eXPERIENCE-ABLE PROGRAM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0" y="6492240"/>
            <a:ext cx="393192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0">
                <a:solidFill>
                  <a:srgbClr val="91A6BE"/>
                </a:solidFill>
                <a:latin typeface="Aptos"/>
              </a:rPr>
              <a:t>NARAYANA SCHOOL – FULBARI  •  2026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1920240"/>
            <a:ext cx="2057400" cy="2240280"/>
          </a:xfrm>
          <a:prstGeom prst="roundRect">
            <a:avLst/>
          </a:prstGeom>
          <a:solidFill>
            <a:srgbClr val="0C1322"/>
          </a:solidFill>
          <a:ln w="12700">
            <a:solidFill>
              <a:srgbClr val="00E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344168" y="2194560"/>
            <a:ext cx="502920" cy="502920"/>
          </a:xfrm>
          <a:prstGeom prst="ellipse">
            <a:avLst/>
          </a:prstGeom>
          <a:solidFill>
            <a:srgbClr val="00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344168" y="219456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050811"/>
                </a:solidFill>
                <a:latin typeface="Aptos"/>
              </a:rP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" y="288036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00EFFF"/>
                </a:solidFill>
                <a:latin typeface="Aptos"/>
              </a:rPr>
              <a:t>DEVELOP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" y="3364992"/>
            <a:ext cx="1737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EDF7FF"/>
                </a:solidFill>
                <a:latin typeface="Aptos"/>
              </a:rPr>
              <a:t>Write app in a supported language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651760" y="2999232"/>
            <a:ext cx="274319" cy="0"/>
          </a:xfrm>
          <a:prstGeom prst="line">
            <a:avLst/>
          </a:prstGeom>
          <a:ln w="19050">
            <a:solidFill>
              <a:srgbClr val="91A6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2926079" y="1920240"/>
            <a:ext cx="2057400" cy="2240280"/>
          </a:xfrm>
          <a:prstGeom prst="roundRect">
            <a:avLst/>
          </a:prstGeom>
          <a:solidFill>
            <a:srgbClr val="0C1322"/>
          </a:solidFill>
          <a:ln w="12700">
            <a:solidFill>
              <a:srgbClr val="357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3675887" y="2194560"/>
            <a:ext cx="502920" cy="502920"/>
          </a:xfrm>
          <a:prstGeom prst="ellipse">
            <a:avLst/>
          </a:prstGeom>
          <a:solidFill>
            <a:srgbClr val="357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675887" y="219456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050811"/>
                </a:solidFill>
                <a:latin typeface="Aptos"/>
              </a:rPr>
              <a:t>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35808" y="288036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3570FF"/>
                </a:solidFill>
                <a:latin typeface="Aptos"/>
              </a:rPr>
              <a:t>PACKAGE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90672" y="3364992"/>
            <a:ext cx="1737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EDF7FF"/>
                </a:solidFill>
                <a:latin typeface="Aptos"/>
              </a:rPr>
              <a:t>Create a standard .uxp bundle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983479" y="2999232"/>
            <a:ext cx="274321" cy="0"/>
          </a:xfrm>
          <a:prstGeom prst="line">
            <a:avLst/>
          </a:prstGeom>
          <a:ln w="19050">
            <a:solidFill>
              <a:srgbClr val="91A6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5257800" y="1920240"/>
            <a:ext cx="2057400" cy="2240280"/>
          </a:xfrm>
          <a:prstGeom prst="roundRect">
            <a:avLst/>
          </a:prstGeom>
          <a:solidFill>
            <a:srgbClr val="0C1322"/>
          </a:solidFill>
          <a:ln w="12700">
            <a:solidFill>
              <a:srgbClr val="B94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6007608" y="2194560"/>
            <a:ext cx="502920" cy="502920"/>
          </a:xfrm>
          <a:prstGeom prst="ellipse">
            <a:avLst/>
          </a:prstGeom>
          <a:solidFill>
            <a:srgbClr val="B94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007608" y="219456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050811"/>
                </a:solidFill>
                <a:latin typeface="Aptos"/>
              </a:rPr>
              <a:t>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67528" y="288036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B94BFF"/>
                </a:solidFill>
                <a:latin typeface="Aptos"/>
              </a:rPr>
              <a:t>LOAD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22392" y="3364992"/>
            <a:ext cx="1737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EDF7FF"/>
                </a:solidFill>
                <a:latin typeface="Aptos"/>
              </a:rPr>
              <a:t>Runtime reads manifest and code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315200" y="2999232"/>
            <a:ext cx="274320" cy="0"/>
          </a:xfrm>
          <a:prstGeom prst="line">
            <a:avLst/>
          </a:prstGeom>
          <a:ln w="19050">
            <a:solidFill>
              <a:srgbClr val="91A6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7589519" y="1920240"/>
            <a:ext cx="2057400" cy="2240280"/>
          </a:xfrm>
          <a:prstGeom prst="roundRect">
            <a:avLst/>
          </a:prstGeom>
          <a:solidFill>
            <a:srgbClr val="0C1322"/>
          </a:solidFill>
          <a:ln w="12700">
            <a:solidFill>
              <a:srgbClr val="FF2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8339327" y="2194560"/>
            <a:ext cx="502920" cy="502920"/>
          </a:xfrm>
          <a:prstGeom prst="ellipse">
            <a:avLst/>
          </a:prstGeom>
          <a:solidFill>
            <a:srgbClr val="FF2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339327" y="219456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050811"/>
                </a:solidFill>
                <a:latin typeface="Aptos"/>
              </a:rPr>
              <a:t>04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99247" y="288036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2D91"/>
                </a:solidFill>
                <a:latin typeface="Aptos"/>
              </a:rPr>
              <a:t>ADAPT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54111" y="3364992"/>
            <a:ext cx="1737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EDF7FF"/>
                </a:solidFill>
                <a:latin typeface="Aptos"/>
              </a:rPr>
              <a:t>Host adapter maps APIs to OS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646919" y="2999232"/>
            <a:ext cx="274320" cy="0"/>
          </a:xfrm>
          <a:prstGeom prst="line">
            <a:avLst/>
          </a:prstGeom>
          <a:ln w="19050">
            <a:solidFill>
              <a:srgbClr val="91A6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9921240" y="1920240"/>
            <a:ext cx="2057400" cy="2240280"/>
          </a:xfrm>
          <a:prstGeom prst="roundRect">
            <a:avLst/>
          </a:prstGeom>
          <a:solidFill>
            <a:srgbClr val="0C1322"/>
          </a:solidFill>
          <a:ln w="12700">
            <a:solidFill>
              <a:srgbClr val="39F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10671048" y="2194560"/>
            <a:ext cx="502920" cy="502920"/>
          </a:xfrm>
          <a:prstGeom prst="ellipse">
            <a:avLst/>
          </a:prstGeom>
          <a:solidFill>
            <a:srgbClr val="39F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0671048" y="219456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050811"/>
                </a:solidFill>
                <a:latin typeface="Aptos"/>
              </a:rPr>
              <a:t>05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30967" y="288036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39FFA6"/>
                </a:solidFill>
                <a:latin typeface="Aptos"/>
              </a:rPr>
              <a:t>RUN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85832" y="3364992"/>
            <a:ext cx="1737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EDF7FF"/>
                </a:solidFill>
                <a:latin typeface="Aptos"/>
              </a:rPr>
              <a:t>User opens app on supported device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60" y="489204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BE37"/>
                </a:solidFill>
                <a:latin typeface="Aptos"/>
              </a:rPr>
              <a:t>KEY PRINCIPLE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194560" y="4846320"/>
            <a:ext cx="8686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EDF7FF"/>
                </a:solidFill>
                <a:latin typeface="Aptos"/>
              </a:rPr>
              <a:t>The application targets UXP APIs; the runtime owns platform integration.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8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00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" cy="6858000"/>
          </a:xfrm>
          <a:prstGeom prst="rect">
            <a:avLst/>
          </a:prstGeom>
          <a:solidFill>
            <a:srgbClr val="B94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247120" y="164592"/>
            <a:ext cx="73152" cy="73152"/>
          </a:xfrm>
          <a:prstGeom prst="ellipse">
            <a:avLst/>
          </a:prstGeom>
          <a:solidFill>
            <a:srgbClr val="00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448288" y="164592"/>
            <a:ext cx="73152" cy="73152"/>
          </a:xfrm>
          <a:prstGeom prst="ellipse">
            <a:avLst/>
          </a:prstGeom>
          <a:solidFill>
            <a:srgbClr val="FF2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649456" y="164592"/>
            <a:ext cx="73152" cy="73152"/>
          </a:xfrm>
          <a:prstGeom prst="ellipse">
            <a:avLst/>
          </a:prstGeom>
          <a:solidFill>
            <a:srgbClr val="39F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274320"/>
            <a:ext cx="4572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00EFFF"/>
                </a:solidFill>
                <a:latin typeface="Aptos"/>
              </a:rPr>
              <a:t>UXP // REFERENCE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384048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FF2D91"/>
                </a:solidFill>
                <a:latin typeface="Aptos"/>
              </a:rPr>
              <a:t>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66928"/>
            <a:ext cx="106984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EDF7FF"/>
                </a:solidFill>
                <a:latin typeface="Aptos"/>
              </a:rPr>
              <a:t>Reference 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069848"/>
            <a:ext cx="106070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91A6BE"/>
                </a:solidFill>
                <a:latin typeface="Aptos"/>
              </a:rPr>
              <a:t>A proposed layered design for implementation.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94360" y="6400800"/>
            <a:ext cx="10972800" cy="0"/>
          </a:xfrm>
          <a:prstGeom prst="line">
            <a:avLst/>
          </a:prstGeom>
          <a:ln w="10160">
            <a:solidFill>
              <a:srgbClr val="111B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21792" y="6492240"/>
            <a:ext cx="41148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91A6BE"/>
                </a:solidFill>
                <a:latin typeface="Aptos"/>
              </a:rPr>
              <a:t>UNIVERSALLY eXPERIENCE-ABLE PROGRAM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0" y="6492240"/>
            <a:ext cx="393192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0">
                <a:solidFill>
                  <a:srgbClr val="91A6BE"/>
                </a:solidFill>
                <a:latin typeface="Aptos"/>
              </a:rPr>
              <a:t>NARAYANA SCHOOL – FULBARI  •  2026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51560" y="1444752"/>
            <a:ext cx="10104120" cy="621792"/>
          </a:xfrm>
          <a:prstGeom prst="roundRect">
            <a:avLst/>
          </a:prstGeom>
          <a:solidFill>
            <a:srgbClr val="0C1322"/>
          </a:solidFill>
          <a:ln w="12700">
            <a:solidFill>
              <a:srgbClr val="00E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298448" y="1554480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00EFFF"/>
                </a:solidFill>
                <a:latin typeface="Aptos"/>
              </a:rPr>
              <a:t>APPLICATION PACKAGE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77639" y="1554480"/>
            <a:ext cx="6766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EDF7FF"/>
                </a:solidFill>
                <a:latin typeface="Aptos"/>
              </a:rPr>
              <a:t>Code • assets • manifest • permissions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080760" y="2066544"/>
            <a:ext cx="0" cy="210312"/>
          </a:xfrm>
          <a:prstGeom prst="line">
            <a:avLst/>
          </a:prstGeom>
          <a:ln w="16510">
            <a:solidFill>
              <a:srgbClr val="91A6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1051560" y="2276856"/>
            <a:ext cx="10104120" cy="621792"/>
          </a:xfrm>
          <a:prstGeom prst="roundRect">
            <a:avLst/>
          </a:prstGeom>
          <a:solidFill>
            <a:srgbClr val="111B2F"/>
          </a:solidFill>
          <a:ln w="12700">
            <a:solidFill>
              <a:srgbClr val="357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298448" y="2386584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3570FF"/>
                </a:solidFill>
                <a:latin typeface="Aptos"/>
              </a:rPr>
              <a:t>UXP API CONTRACT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77639" y="2386584"/>
            <a:ext cx="6766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EDF7FF"/>
                </a:solidFill>
                <a:latin typeface="Aptos"/>
              </a:rPr>
              <a:t>UI • storage • networking • device capabilities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080760" y="2898648"/>
            <a:ext cx="0" cy="210312"/>
          </a:xfrm>
          <a:prstGeom prst="line">
            <a:avLst/>
          </a:prstGeom>
          <a:ln w="16510">
            <a:solidFill>
              <a:srgbClr val="91A6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1051560" y="3108960"/>
            <a:ext cx="10104120" cy="621792"/>
          </a:xfrm>
          <a:prstGeom prst="roundRect">
            <a:avLst/>
          </a:prstGeom>
          <a:solidFill>
            <a:srgbClr val="0C1322"/>
          </a:solidFill>
          <a:ln w="12700">
            <a:solidFill>
              <a:srgbClr val="B94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298448" y="3218688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B94BFF"/>
                </a:solidFill>
                <a:latin typeface="Aptos"/>
              </a:rPr>
              <a:t>UXP RUNTIME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77639" y="3218688"/>
            <a:ext cx="6766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EDF7FF"/>
                </a:solidFill>
                <a:latin typeface="Aptos"/>
              </a:rPr>
              <a:t>Loader • lifecycle • API dispatch • compatibility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080760" y="3730752"/>
            <a:ext cx="0" cy="210312"/>
          </a:xfrm>
          <a:prstGeom prst="line">
            <a:avLst/>
          </a:prstGeom>
          <a:ln w="16510">
            <a:solidFill>
              <a:srgbClr val="91A6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1051560" y="3941064"/>
            <a:ext cx="10104120" cy="621792"/>
          </a:xfrm>
          <a:prstGeom prst="roundRect">
            <a:avLst/>
          </a:prstGeom>
          <a:solidFill>
            <a:srgbClr val="111B2F"/>
          </a:solidFill>
          <a:ln w="12700">
            <a:solidFill>
              <a:srgbClr val="FF2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298448" y="4050792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FF2D91"/>
                </a:solidFill>
                <a:latin typeface="Aptos"/>
              </a:rPr>
              <a:t>HOST ADAPTERS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77639" y="4050792"/>
            <a:ext cx="6766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EDF7FF"/>
                </a:solidFill>
                <a:latin typeface="Aptos"/>
              </a:rPr>
              <a:t>Desktop • Android • future supported hosts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080760" y="4562856"/>
            <a:ext cx="0" cy="210312"/>
          </a:xfrm>
          <a:prstGeom prst="line">
            <a:avLst/>
          </a:prstGeom>
          <a:ln w="16510">
            <a:solidFill>
              <a:srgbClr val="91A6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1051560" y="4773168"/>
            <a:ext cx="10104120" cy="621792"/>
          </a:xfrm>
          <a:prstGeom prst="roundRect">
            <a:avLst/>
          </a:prstGeom>
          <a:solidFill>
            <a:srgbClr val="0C1322"/>
          </a:solidFill>
          <a:ln w="12700">
            <a:solidFill>
              <a:srgbClr val="39F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298448" y="4882896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39FFA6"/>
                </a:solidFill>
                <a:latin typeface="Aptos"/>
              </a:rPr>
              <a:t>OPERATING SYSTEM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977639" y="4882896"/>
            <a:ext cx="6766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EDF7FF"/>
                </a:solidFill>
                <a:latin typeface="Aptos"/>
              </a:rPr>
              <a:t>Native services • windowing • hardware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5806440"/>
            <a:ext cx="10241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FFBE37"/>
                </a:solidFill>
                <a:latin typeface="Aptos"/>
              </a:rPr>
              <a:t>Boundary rule: apps should not depend on host internals unless an explicit UXP API permits it.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8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00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" cy="6858000"/>
          </a:xfrm>
          <a:prstGeom prst="rect">
            <a:avLst/>
          </a:prstGeom>
          <a:solidFill>
            <a:srgbClr val="B94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247120" y="164592"/>
            <a:ext cx="73152" cy="73152"/>
          </a:xfrm>
          <a:prstGeom prst="ellipse">
            <a:avLst/>
          </a:prstGeom>
          <a:solidFill>
            <a:srgbClr val="00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448288" y="164592"/>
            <a:ext cx="73152" cy="73152"/>
          </a:xfrm>
          <a:prstGeom prst="ellipse">
            <a:avLst/>
          </a:prstGeom>
          <a:solidFill>
            <a:srgbClr val="FF2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649456" y="164592"/>
            <a:ext cx="73152" cy="73152"/>
          </a:xfrm>
          <a:prstGeom prst="ellipse">
            <a:avLst/>
          </a:prstGeom>
          <a:solidFill>
            <a:srgbClr val="39F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274320"/>
            <a:ext cx="4572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00EFFF"/>
                </a:solidFill>
                <a:latin typeface="Aptos"/>
              </a:rPr>
              <a:t>UXP // LANGUAGE INDEPENDENCE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384048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FF2D91"/>
                </a:solidFill>
                <a:latin typeface="Aptos"/>
              </a:rPr>
              <a:t>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66928"/>
            <a:ext cx="106984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EDF7FF"/>
                </a:solidFill>
                <a:latin typeface="Aptos"/>
              </a:rPr>
              <a:t>Language Independence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069848"/>
            <a:ext cx="106070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91A6BE"/>
                </a:solidFill>
                <a:latin typeface="Aptos"/>
              </a:rPr>
              <a:t>Language freedom needs a clear interoperability contract.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94360" y="6400800"/>
            <a:ext cx="10972800" cy="0"/>
          </a:xfrm>
          <a:prstGeom prst="line">
            <a:avLst/>
          </a:prstGeom>
          <a:ln w="10160">
            <a:solidFill>
              <a:srgbClr val="111B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21792" y="6492240"/>
            <a:ext cx="41148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91A6BE"/>
                </a:solidFill>
                <a:latin typeface="Aptos"/>
              </a:rPr>
              <a:t>UNIVERSALLY eXPERIENCE-ABLE PROGRAM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0" y="6492240"/>
            <a:ext cx="393192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0">
                <a:solidFill>
                  <a:srgbClr val="91A6BE"/>
                </a:solidFill>
                <a:latin typeface="Aptos"/>
              </a:rPr>
              <a:t>NARAYANA SCHOOL – FULBARI  •  2026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1737360"/>
            <a:ext cx="2423160" cy="1234440"/>
          </a:xfrm>
          <a:prstGeom prst="roundRect">
            <a:avLst/>
          </a:prstGeom>
          <a:solidFill>
            <a:srgbClr val="0C1322"/>
          </a:solidFill>
          <a:ln w="12700">
            <a:solidFill>
              <a:srgbClr val="00E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" y="2011680"/>
            <a:ext cx="2423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00EFFF"/>
                </a:solidFill>
                <a:latin typeface="Aptos"/>
              </a:rPr>
              <a:t>PYTHON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2441448"/>
            <a:ext cx="2240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>
                <a:solidFill>
                  <a:srgbClr val="91A6BE"/>
                </a:solidFill>
                <a:latin typeface="Aptos"/>
              </a:rPr>
              <a:t>runtime / adapter support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11880" y="1737360"/>
            <a:ext cx="2423160" cy="1234440"/>
          </a:xfrm>
          <a:prstGeom prst="roundRect">
            <a:avLst/>
          </a:prstGeom>
          <a:solidFill>
            <a:srgbClr val="0C1322"/>
          </a:solidFill>
          <a:ln w="12700">
            <a:solidFill>
              <a:srgbClr val="FFB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11880" y="2011680"/>
            <a:ext cx="2423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BE37"/>
                </a:solidFill>
                <a:latin typeface="Aptos"/>
              </a:rPr>
              <a:t>JAVASCRIPT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03320" y="2441448"/>
            <a:ext cx="2240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>
                <a:solidFill>
                  <a:srgbClr val="91A6BE"/>
                </a:solidFill>
                <a:latin typeface="Aptos"/>
              </a:rPr>
              <a:t>runtime / adapter support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46520" y="1737360"/>
            <a:ext cx="2423160" cy="1234440"/>
          </a:xfrm>
          <a:prstGeom prst="roundRect">
            <a:avLst/>
          </a:prstGeom>
          <a:solidFill>
            <a:srgbClr val="0C1322"/>
          </a:solidFill>
          <a:ln w="12700">
            <a:solidFill>
              <a:srgbClr val="B94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46520" y="2011680"/>
            <a:ext cx="2423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B94BFF"/>
                </a:solidFill>
                <a:latin typeface="Aptos"/>
              </a:rPr>
              <a:t>JAVA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59" y="2441448"/>
            <a:ext cx="2240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>
                <a:solidFill>
                  <a:srgbClr val="91A6BE"/>
                </a:solidFill>
                <a:latin typeface="Aptos"/>
              </a:rPr>
              <a:t>runtime / adapter support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81160" y="1737360"/>
            <a:ext cx="2423160" cy="1234440"/>
          </a:xfrm>
          <a:prstGeom prst="roundRect">
            <a:avLst/>
          </a:prstGeom>
          <a:solidFill>
            <a:srgbClr val="0C1322"/>
          </a:solidFill>
          <a:ln w="12700">
            <a:solidFill>
              <a:srgbClr val="39F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281160" y="2011680"/>
            <a:ext cx="2423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39FFA6"/>
                </a:solidFill>
                <a:latin typeface="Aptos"/>
              </a:rPr>
              <a:t>C / C++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72600" y="2441448"/>
            <a:ext cx="2240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>
                <a:solidFill>
                  <a:srgbClr val="91A6BE"/>
                </a:solidFill>
                <a:latin typeface="Aptos"/>
              </a:rPr>
              <a:t>runtime / adapter support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" y="3657600"/>
            <a:ext cx="10561320" cy="1645920"/>
          </a:xfrm>
          <a:prstGeom prst="roundRect">
            <a:avLst/>
          </a:prstGeom>
          <a:solidFill>
            <a:srgbClr val="0C1322"/>
          </a:solidFill>
          <a:ln w="12700">
            <a:solidFill>
              <a:srgbClr val="00E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143000" y="3931920"/>
            <a:ext cx="2926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0EFFF"/>
                </a:solidFill>
                <a:latin typeface="Aptos"/>
              </a:rPr>
              <a:t>IMPORTANT ENGINEERING CHOICE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4389120"/>
            <a:ext cx="97383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EDF7FF"/>
                </a:solidFill>
                <a:latin typeface="Aptos"/>
              </a:rPr>
              <a:t>“Any language” is feasible only when UXP defines how code is executed or compiled, how APIs are called, and how data types, errors and async work cross language boundaries.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669280"/>
            <a:ext cx="10241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FFBE37"/>
                </a:solidFill>
                <a:latin typeface="Aptos"/>
              </a:rPr>
              <a:t>Recommendation: begin with one language for the MVP, then add language adapters after the API contract stabilizes.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8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00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" cy="6858000"/>
          </a:xfrm>
          <a:prstGeom prst="rect">
            <a:avLst/>
          </a:prstGeom>
          <a:solidFill>
            <a:srgbClr val="B94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247120" y="164592"/>
            <a:ext cx="73152" cy="73152"/>
          </a:xfrm>
          <a:prstGeom prst="ellipse">
            <a:avLst/>
          </a:prstGeom>
          <a:solidFill>
            <a:srgbClr val="00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448288" y="164592"/>
            <a:ext cx="73152" cy="73152"/>
          </a:xfrm>
          <a:prstGeom prst="ellipse">
            <a:avLst/>
          </a:prstGeom>
          <a:solidFill>
            <a:srgbClr val="FF2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649456" y="164592"/>
            <a:ext cx="73152" cy="73152"/>
          </a:xfrm>
          <a:prstGeom prst="ellipse">
            <a:avLst/>
          </a:prstGeom>
          <a:solidFill>
            <a:srgbClr val="39F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274320"/>
            <a:ext cx="4572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00EFFF"/>
                </a:solidFill>
                <a:latin typeface="Aptos"/>
              </a:rPr>
              <a:t>UXP // DEMONSTRATION USE 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384048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FF2D91"/>
                </a:solidFill>
                <a:latin typeface="Aptos"/>
              </a:rPr>
              <a:t>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66928"/>
            <a:ext cx="106984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EDF7FF"/>
                </a:solidFill>
                <a:latin typeface="Aptos"/>
              </a:rPr>
              <a:t>Demonstration Use 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069848"/>
            <a:ext cx="106070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91A6BE"/>
                </a:solidFill>
                <a:latin typeface="Aptos"/>
              </a:rPr>
              <a:t>A notes app is a useful first test because its behavior is easy to compare.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94360" y="6400800"/>
            <a:ext cx="10972800" cy="0"/>
          </a:xfrm>
          <a:prstGeom prst="line">
            <a:avLst/>
          </a:prstGeom>
          <a:ln w="10160">
            <a:solidFill>
              <a:srgbClr val="111B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21792" y="6492240"/>
            <a:ext cx="41148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91A6BE"/>
                </a:solidFill>
                <a:latin typeface="Aptos"/>
              </a:rPr>
              <a:t>UNIVERSALLY eXPERIENCE-ABLE PROGRAM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0" y="6492240"/>
            <a:ext cx="393192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0">
                <a:solidFill>
                  <a:srgbClr val="91A6BE"/>
                </a:solidFill>
                <a:latin typeface="Aptos"/>
              </a:rPr>
              <a:t>NARAYANA SCHOOL – FULBARI  •  2026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1600200"/>
            <a:ext cx="2743200" cy="3566160"/>
          </a:xfrm>
          <a:prstGeom prst="roundRect">
            <a:avLst/>
          </a:prstGeom>
          <a:solidFill>
            <a:srgbClr val="0C1322"/>
          </a:solidFill>
          <a:ln w="12700">
            <a:solidFill>
              <a:srgbClr val="00E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192024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00EFFF"/>
                </a:solidFill>
                <a:latin typeface="Aptos"/>
              </a:rPr>
              <a:t>UXP NOTES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2606040"/>
            <a:ext cx="2286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EDF7FF"/>
                </a:solidFill>
                <a:latin typeface="Aptos"/>
              </a:rPr>
              <a:t>Create • edit • save • reopen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3703320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91A6BE"/>
                </a:solidFill>
                <a:latin typeface="Aptos"/>
              </a:rPr>
              <a:t>One test package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60520" y="2011680"/>
            <a:ext cx="1965960" cy="1828800"/>
          </a:xfrm>
          <a:prstGeom prst="roundRect">
            <a:avLst/>
          </a:prstGeom>
          <a:solidFill>
            <a:srgbClr val="0C1322"/>
          </a:solidFill>
          <a:ln w="12700">
            <a:solidFill>
              <a:srgbClr val="357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160520" y="2359152"/>
            <a:ext cx="1965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3570FF"/>
                </a:solidFill>
                <a:latin typeface="Aptos"/>
              </a:rPr>
              <a:t>DESKTOP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51959" y="2907792"/>
            <a:ext cx="1783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EDF7FF"/>
                </a:solidFill>
                <a:latin typeface="Aptos"/>
              </a:rPr>
              <a:t>same core actions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474720" y="2880360"/>
            <a:ext cx="685800" cy="0"/>
          </a:xfrm>
          <a:prstGeom prst="line">
            <a:avLst/>
          </a:prstGeom>
          <a:ln w="19050">
            <a:solidFill>
              <a:srgbClr val="91A6B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720840" y="2011680"/>
            <a:ext cx="1965960" cy="1828800"/>
          </a:xfrm>
          <a:prstGeom prst="roundRect">
            <a:avLst/>
          </a:prstGeom>
          <a:solidFill>
            <a:srgbClr val="0C1322"/>
          </a:solidFill>
          <a:ln w="12700">
            <a:solidFill>
              <a:srgbClr val="39F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720840" y="2359152"/>
            <a:ext cx="1965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39FFA6"/>
                </a:solidFill>
                <a:latin typeface="Aptos"/>
              </a:rPr>
              <a:t>MOBILE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12279" y="2907792"/>
            <a:ext cx="1783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EDF7FF"/>
                </a:solidFill>
                <a:latin typeface="Aptos"/>
              </a:rPr>
              <a:t>same core actions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474720" y="2880360"/>
            <a:ext cx="3246120" cy="0"/>
          </a:xfrm>
          <a:prstGeom prst="line">
            <a:avLst/>
          </a:prstGeom>
          <a:ln w="19050">
            <a:solidFill>
              <a:srgbClr val="91A6B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9281160" y="2011680"/>
            <a:ext cx="1965960" cy="1828800"/>
          </a:xfrm>
          <a:prstGeom prst="roundRect">
            <a:avLst/>
          </a:prstGeom>
          <a:solidFill>
            <a:srgbClr val="0C1322"/>
          </a:solidFill>
          <a:ln w="12700">
            <a:solidFill>
              <a:srgbClr val="B94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281160" y="2359152"/>
            <a:ext cx="1965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B94BFF"/>
                </a:solidFill>
                <a:latin typeface="Aptos"/>
              </a:rPr>
              <a:t>TABLET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72600" y="2907792"/>
            <a:ext cx="1783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EDF7FF"/>
                </a:solidFill>
                <a:latin typeface="Aptos"/>
              </a:rPr>
              <a:t>same core actions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3474720" y="2880360"/>
            <a:ext cx="5806440" cy="0"/>
          </a:xfrm>
          <a:prstGeom prst="line">
            <a:avLst/>
          </a:prstGeom>
          <a:ln w="19050">
            <a:solidFill>
              <a:srgbClr val="91A6B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3977639" y="4343400"/>
            <a:ext cx="7269480" cy="685800"/>
          </a:xfrm>
          <a:prstGeom prst="roundRect">
            <a:avLst/>
          </a:prstGeom>
          <a:solidFill>
            <a:srgbClr val="111B2F"/>
          </a:solidFill>
          <a:ln w="12700">
            <a:solidFill>
              <a:srgbClr val="FFB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977639" y="4535424"/>
            <a:ext cx="7269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>
                <a:solidFill>
                  <a:srgbClr val="EDF7FF"/>
                </a:solidFill>
                <a:latin typeface="Aptos"/>
              </a:rPr>
              <a:t>Compare: launch • save/load • usability • errors • performance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5669280"/>
            <a:ext cx="10241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FFBE37"/>
                </a:solidFill>
                <a:latin typeface="Aptos"/>
              </a:rPr>
              <a:t>Proposed demonstration—not a claim that it has already been implemented.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8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00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" cy="6858000"/>
          </a:xfrm>
          <a:prstGeom prst="rect">
            <a:avLst/>
          </a:prstGeom>
          <a:solidFill>
            <a:srgbClr val="B94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247120" y="164592"/>
            <a:ext cx="73152" cy="73152"/>
          </a:xfrm>
          <a:prstGeom prst="ellipse">
            <a:avLst/>
          </a:prstGeom>
          <a:solidFill>
            <a:srgbClr val="00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448288" y="164592"/>
            <a:ext cx="73152" cy="73152"/>
          </a:xfrm>
          <a:prstGeom prst="ellipse">
            <a:avLst/>
          </a:prstGeom>
          <a:solidFill>
            <a:srgbClr val="FF2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649456" y="164592"/>
            <a:ext cx="73152" cy="73152"/>
          </a:xfrm>
          <a:prstGeom prst="ellipse">
            <a:avLst/>
          </a:prstGeom>
          <a:solidFill>
            <a:srgbClr val="39F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274320"/>
            <a:ext cx="4572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00EFFF"/>
                </a:solidFill>
                <a:latin typeface="Aptos"/>
              </a:rPr>
              <a:t>UXP // MVP &amp; CURRENT STATUS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384048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FF2D91"/>
                </a:solidFill>
                <a:latin typeface="Aptos"/>
              </a:rPr>
              <a:t>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66928"/>
            <a:ext cx="106984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EDF7FF"/>
                </a:solidFill>
                <a:latin typeface="Aptos"/>
              </a:rPr>
              <a:t>MVP &amp; Current Status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069848"/>
            <a:ext cx="106070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91A6BE"/>
                </a:solidFill>
                <a:latin typeface="Aptos"/>
              </a:rPr>
              <a:t>Clearly separate concept design from implementation.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94360" y="6400800"/>
            <a:ext cx="10972800" cy="0"/>
          </a:xfrm>
          <a:prstGeom prst="line">
            <a:avLst/>
          </a:prstGeom>
          <a:ln w="10160">
            <a:solidFill>
              <a:srgbClr val="111B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21792" y="6492240"/>
            <a:ext cx="41148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91A6BE"/>
                </a:solidFill>
                <a:latin typeface="Aptos"/>
              </a:rPr>
              <a:t>UNIVERSALLY eXPERIENCE-ABLE PROGRAM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0" y="6492240"/>
            <a:ext cx="393192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0">
                <a:solidFill>
                  <a:srgbClr val="91A6BE"/>
                </a:solidFill>
                <a:latin typeface="Aptos"/>
              </a:rPr>
              <a:t>NARAYANA SCHOOL – FULBARI  •  2026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1554480"/>
            <a:ext cx="5074920" cy="4434840"/>
          </a:xfrm>
          <a:prstGeom prst="roundRect">
            <a:avLst/>
          </a:prstGeom>
          <a:solidFill>
            <a:srgbClr val="0C1322"/>
          </a:solidFill>
          <a:ln w="12700">
            <a:solidFill>
              <a:srgbClr val="00E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51560" y="1828800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0EFFF"/>
                </a:solidFill>
                <a:latin typeface="Aptos"/>
              </a:rPr>
              <a:t>DEFINED SO FAR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2331720"/>
            <a:ext cx="42976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EDF7FF"/>
                </a:solidFill>
                <a:latin typeface="Aptos"/>
              </a:defRPr>
            </a:pPr>
            <a:r>
              <a:t>›  UXP concept and name</a:t>
            </a:r>
          </a:p>
          <a:p>
            <a:pPr>
              <a:spcAft>
                <a:spcPts val="700"/>
              </a:spcAft>
              <a:defRPr sz="1300">
                <a:solidFill>
                  <a:srgbClr val="EDF7FF"/>
                </a:solidFill>
                <a:latin typeface="Aptos"/>
              </a:defRPr>
            </a:pPr>
            <a:r>
              <a:t>›  Cross-device objective</a:t>
            </a:r>
          </a:p>
          <a:p>
            <a:pPr>
              <a:spcAft>
                <a:spcPts val="700"/>
              </a:spcAft>
              <a:defRPr sz="1300">
                <a:solidFill>
                  <a:srgbClr val="EDF7FF"/>
                </a:solidFill>
                <a:latin typeface="Aptos"/>
              </a:defRPr>
            </a:pPr>
            <a:r>
              <a:t>›  Unique package / extension idea</a:t>
            </a:r>
          </a:p>
          <a:p>
            <a:pPr>
              <a:spcAft>
                <a:spcPts val="700"/>
              </a:spcAft>
              <a:defRPr sz="1300">
                <a:solidFill>
                  <a:srgbClr val="EDF7FF"/>
                </a:solidFill>
                <a:latin typeface="Aptos"/>
              </a:defRPr>
            </a:pPr>
            <a:r>
              <a:t>›  API-first design principle</a:t>
            </a:r>
          </a:p>
          <a:p>
            <a:pPr>
              <a:spcAft>
                <a:spcPts val="700"/>
              </a:spcAft>
              <a:defRPr sz="1300">
                <a:solidFill>
                  <a:srgbClr val="EDF7FF"/>
                </a:solidFill>
                <a:latin typeface="Aptos"/>
              </a:defRPr>
            </a:pPr>
            <a:r>
              <a:t>›  High-level runtime architecture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1560" y="5212080"/>
            <a:ext cx="2834640" cy="329184"/>
          </a:xfrm>
          <a:prstGeom prst="roundRect">
            <a:avLst/>
          </a:prstGeom>
          <a:solidFill>
            <a:srgbClr val="111B2F"/>
          </a:solidFill>
          <a:ln w="12700">
            <a:solidFill>
              <a:srgbClr val="00E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51560" y="5244084"/>
            <a:ext cx="2834640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00EFFF"/>
                </a:solidFill>
                <a:latin typeface="Aptos"/>
              </a:rPr>
              <a:t>CONCEPT / DESIGN FOUNDATION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1554480"/>
            <a:ext cx="5257800" cy="4434840"/>
          </a:xfrm>
          <a:prstGeom prst="roundRect">
            <a:avLst/>
          </a:prstGeom>
          <a:solidFill>
            <a:srgbClr val="0C1322"/>
          </a:solidFill>
          <a:ln w="12700">
            <a:solidFill>
              <a:srgbClr val="39F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92240" y="182880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9FFA6"/>
                </a:solidFill>
                <a:latin typeface="Aptos"/>
              </a:rPr>
              <a:t>NEXT MVP CHECKPOINTS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2331720"/>
            <a:ext cx="438912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50">
                <a:solidFill>
                  <a:srgbClr val="EDF7FF"/>
                </a:solidFill>
                <a:latin typeface="Aptos"/>
              </a:defRPr>
            </a:pPr>
            <a:r>
              <a:t>›  Write package specification</a:t>
            </a:r>
          </a:p>
          <a:p>
            <a:pPr>
              <a:spcAft>
                <a:spcPts val="700"/>
              </a:spcAft>
              <a:defRPr sz="1250">
                <a:solidFill>
                  <a:srgbClr val="EDF7FF"/>
                </a:solidFill>
                <a:latin typeface="Aptos"/>
              </a:defRPr>
            </a:pPr>
            <a:r>
              <a:t>›  Implement package loader</a:t>
            </a:r>
          </a:p>
          <a:p>
            <a:pPr>
              <a:spcAft>
                <a:spcPts val="700"/>
              </a:spcAft>
              <a:defRPr sz="1250">
                <a:solidFill>
                  <a:srgbClr val="EDF7FF"/>
                </a:solidFill>
                <a:latin typeface="Aptos"/>
              </a:defRPr>
            </a:pPr>
            <a:r>
              <a:t>›  Build one minimal API</a:t>
            </a:r>
          </a:p>
          <a:p>
            <a:pPr>
              <a:spcAft>
                <a:spcPts val="700"/>
              </a:spcAft>
              <a:defRPr sz="1250">
                <a:solidFill>
                  <a:srgbClr val="EDF7FF"/>
                </a:solidFill>
                <a:latin typeface="Aptos"/>
              </a:defRPr>
            </a:pPr>
            <a:r>
              <a:t>›  Run sample app on desktop</a:t>
            </a:r>
          </a:p>
          <a:p>
            <a:pPr>
              <a:spcAft>
                <a:spcPts val="700"/>
              </a:spcAft>
              <a:defRPr sz="1250">
                <a:solidFill>
                  <a:srgbClr val="EDF7FF"/>
                </a:solidFill>
                <a:latin typeface="Aptos"/>
              </a:defRPr>
            </a:pPr>
            <a:r>
              <a:t>›  Port same package to mobile</a:t>
            </a:r>
          </a:p>
          <a:p>
            <a:pPr>
              <a:spcAft>
                <a:spcPts val="700"/>
              </a:spcAft>
              <a:defRPr sz="1250">
                <a:solidFill>
                  <a:srgbClr val="EDF7FF"/>
                </a:solidFill>
                <a:latin typeface="Aptos"/>
              </a:defRPr>
            </a:pPr>
            <a:r>
              <a:t>›  Record repeatable test results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943600"/>
            <a:ext cx="10241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FFBE37"/>
                </a:solidFill>
                <a:latin typeface="Aptos"/>
              </a:rPr>
              <a:t>Update this slide to match the actual implementation before presenting.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8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00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" cy="6858000"/>
          </a:xfrm>
          <a:prstGeom prst="rect">
            <a:avLst/>
          </a:prstGeom>
          <a:solidFill>
            <a:srgbClr val="B94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247120" y="164592"/>
            <a:ext cx="73152" cy="73152"/>
          </a:xfrm>
          <a:prstGeom prst="ellipse">
            <a:avLst/>
          </a:prstGeom>
          <a:solidFill>
            <a:srgbClr val="00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448288" y="164592"/>
            <a:ext cx="73152" cy="73152"/>
          </a:xfrm>
          <a:prstGeom prst="ellipse">
            <a:avLst/>
          </a:prstGeom>
          <a:solidFill>
            <a:srgbClr val="FF2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649456" y="164592"/>
            <a:ext cx="73152" cy="73152"/>
          </a:xfrm>
          <a:prstGeom prst="ellipse">
            <a:avLst/>
          </a:prstGeom>
          <a:solidFill>
            <a:srgbClr val="39F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274320"/>
            <a:ext cx="4572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00EFFF"/>
                </a:solidFill>
                <a:latin typeface="Aptos"/>
              </a:rPr>
              <a:t>UXP // PROOF OF CONCEPT METHODOLOGY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384048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FF2D91"/>
                </a:solidFill>
                <a:latin typeface="Aptos"/>
              </a:rPr>
              <a:t>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66928"/>
            <a:ext cx="106984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EDF7FF"/>
                </a:solidFill>
                <a:latin typeface="Aptos"/>
              </a:rPr>
              <a:t>Proof of Concept Methodology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069848"/>
            <a:ext cx="106070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91A6BE"/>
                </a:solidFill>
                <a:latin typeface="Aptos"/>
              </a:rPr>
              <a:t>A repeatable test with observable results.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94360" y="6400800"/>
            <a:ext cx="10972800" cy="0"/>
          </a:xfrm>
          <a:prstGeom prst="line">
            <a:avLst/>
          </a:prstGeom>
          <a:ln w="10160">
            <a:solidFill>
              <a:srgbClr val="111B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21792" y="6492240"/>
            <a:ext cx="41148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91A6BE"/>
                </a:solidFill>
                <a:latin typeface="Aptos"/>
              </a:rPr>
              <a:t>UNIVERSALLY eXPERIENCE-ABLE PROGRAM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0" y="6492240"/>
            <a:ext cx="393192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0">
                <a:solidFill>
                  <a:srgbClr val="91A6BE"/>
                </a:solidFill>
                <a:latin typeface="Aptos"/>
              </a:rPr>
              <a:t>NARAYANA SCHOOL – FULBARI  •  2026</a:t>
            </a:r>
          </a:p>
        </p:txBody>
      </p:sp>
      <p:sp>
        <p:nvSpPr>
          <p:cNvPr id="14" name="Oval 13"/>
          <p:cNvSpPr/>
          <p:nvPr/>
        </p:nvSpPr>
        <p:spPr>
          <a:xfrm>
            <a:off x="1252728" y="1737360"/>
            <a:ext cx="566928" cy="566928"/>
          </a:xfrm>
          <a:prstGeom prst="ellipse">
            <a:avLst/>
          </a:prstGeom>
          <a:solidFill>
            <a:srgbClr val="00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252728" y="1737360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50811"/>
                </a:solidFill>
                <a:latin typeface="Aptos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2560320"/>
            <a:ext cx="187451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>
                <a:solidFill>
                  <a:srgbClr val="00EFFF"/>
                </a:solidFill>
                <a:latin typeface="Aptos"/>
              </a:rPr>
              <a:t>SPECIFY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2999232"/>
            <a:ext cx="1965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EDF7FF"/>
                </a:solidFill>
                <a:latin typeface="Aptos"/>
              </a:rPr>
              <a:t>Package + APIs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819656" y="2020824"/>
            <a:ext cx="1106423" cy="0"/>
          </a:xfrm>
          <a:prstGeom prst="line">
            <a:avLst/>
          </a:prstGeom>
          <a:ln w="19050">
            <a:solidFill>
              <a:srgbClr val="91A6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3584448" y="1737360"/>
            <a:ext cx="566928" cy="566928"/>
          </a:xfrm>
          <a:prstGeom prst="ellipse">
            <a:avLst/>
          </a:prstGeom>
          <a:solidFill>
            <a:srgbClr val="357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584448" y="1737360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50811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79" y="2560320"/>
            <a:ext cx="187451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>
                <a:solidFill>
                  <a:srgbClr val="3570FF"/>
                </a:solidFill>
                <a:latin typeface="Aptos"/>
              </a:rPr>
              <a:t>IMPLEMENT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80360" y="2999232"/>
            <a:ext cx="1965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EDF7FF"/>
                </a:solidFill>
                <a:latin typeface="Aptos"/>
              </a:rPr>
              <a:t>Minimal runtime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151376" y="2020824"/>
            <a:ext cx="1106424" cy="0"/>
          </a:xfrm>
          <a:prstGeom prst="line">
            <a:avLst/>
          </a:prstGeom>
          <a:ln w="19050">
            <a:solidFill>
              <a:srgbClr val="91A6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5916168" y="1737360"/>
            <a:ext cx="566928" cy="566928"/>
          </a:xfrm>
          <a:prstGeom prst="ellipse">
            <a:avLst/>
          </a:prstGeom>
          <a:solidFill>
            <a:srgbClr val="B94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916168" y="1737360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50811"/>
                </a:solidFill>
                <a:latin typeface="Aptos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57800" y="2560320"/>
            <a:ext cx="187451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>
                <a:solidFill>
                  <a:srgbClr val="B94BFF"/>
                </a:solidFill>
                <a:latin typeface="Aptos"/>
              </a:rPr>
              <a:t>PACKAGE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12080" y="2999232"/>
            <a:ext cx="1965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EDF7FF"/>
                </a:solidFill>
                <a:latin typeface="Aptos"/>
              </a:rPr>
              <a:t>Sample app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483096" y="2020824"/>
            <a:ext cx="1106424" cy="0"/>
          </a:xfrm>
          <a:prstGeom prst="line">
            <a:avLst/>
          </a:prstGeom>
          <a:ln w="19050">
            <a:solidFill>
              <a:srgbClr val="91A6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8247888" y="1737360"/>
            <a:ext cx="566928" cy="566928"/>
          </a:xfrm>
          <a:prstGeom prst="ellipse">
            <a:avLst/>
          </a:prstGeom>
          <a:solidFill>
            <a:srgbClr val="39F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247888" y="1737360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50811"/>
                </a:solidFill>
                <a:latin typeface="Aptos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89519" y="2560320"/>
            <a:ext cx="187451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>
                <a:solidFill>
                  <a:srgbClr val="39FFA6"/>
                </a:solidFill>
                <a:latin typeface="Aptos"/>
              </a:rPr>
              <a:t>EXECUTE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43799" y="2999232"/>
            <a:ext cx="1965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EDF7FF"/>
                </a:solidFill>
                <a:latin typeface="Aptos"/>
              </a:rPr>
              <a:t>Desktop + mobile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814815" y="2020824"/>
            <a:ext cx="1106424" cy="0"/>
          </a:xfrm>
          <a:prstGeom prst="line">
            <a:avLst/>
          </a:prstGeom>
          <a:ln w="19050">
            <a:solidFill>
              <a:srgbClr val="91A6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10579608" y="1737360"/>
            <a:ext cx="566928" cy="566928"/>
          </a:xfrm>
          <a:prstGeom prst="ellipse">
            <a:avLst/>
          </a:prstGeom>
          <a:solidFill>
            <a:srgbClr val="FF2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0579608" y="1737360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50811"/>
                </a:solidFill>
                <a:latin typeface="Aptos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21240" y="2560320"/>
            <a:ext cx="187451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>
                <a:solidFill>
                  <a:srgbClr val="FF2D91"/>
                </a:solidFill>
                <a:latin typeface="Aptos"/>
              </a:rPr>
              <a:t>MEASURE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75519" y="2999232"/>
            <a:ext cx="1965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EDF7FF"/>
                </a:solidFill>
                <a:latin typeface="Aptos"/>
              </a:rPr>
              <a:t>Same test checklist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22960" y="4023360"/>
            <a:ext cx="10561320" cy="1280160"/>
          </a:xfrm>
          <a:prstGeom prst="roundRect">
            <a:avLst/>
          </a:prstGeom>
          <a:solidFill>
            <a:srgbClr val="0C1322"/>
          </a:solidFill>
          <a:ln w="12700">
            <a:solidFill>
              <a:srgbClr val="39F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097280" y="4297680"/>
            <a:ext cx="1920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dirty="0">
                <a:solidFill>
                  <a:srgbClr val="39FFA6"/>
                </a:solidFill>
                <a:latin typeface="Aptos"/>
              </a:rPr>
              <a:t>MEASURE THESE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971800" y="4251960"/>
            <a:ext cx="8001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EDF7FF"/>
                </a:solidFill>
                <a:latin typeface="Aptos"/>
              </a:rPr>
              <a:t>Launch success • same core functions • UI behavior • crash rate • response time • platform-specific exceptions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5669280"/>
            <a:ext cx="10241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FFBE37"/>
                </a:solidFill>
                <a:latin typeface="Aptos"/>
              </a:rPr>
              <a:t>Record device, OS, runtime version, date and pass/fail evidence.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8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00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" cy="6858000"/>
          </a:xfrm>
          <a:prstGeom prst="rect">
            <a:avLst/>
          </a:prstGeom>
          <a:solidFill>
            <a:srgbClr val="B94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247120" y="164592"/>
            <a:ext cx="73152" cy="73152"/>
          </a:xfrm>
          <a:prstGeom prst="ellipse">
            <a:avLst/>
          </a:prstGeom>
          <a:solidFill>
            <a:srgbClr val="00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448288" y="164592"/>
            <a:ext cx="73152" cy="73152"/>
          </a:xfrm>
          <a:prstGeom prst="ellipse">
            <a:avLst/>
          </a:prstGeom>
          <a:solidFill>
            <a:srgbClr val="FF2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649456" y="164592"/>
            <a:ext cx="73152" cy="73152"/>
          </a:xfrm>
          <a:prstGeom prst="ellipse">
            <a:avLst/>
          </a:prstGeom>
          <a:solidFill>
            <a:srgbClr val="39F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274320"/>
            <a:ext cx="4572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00EFFF"/>
                </a:solidFill>
                <a:latin typeface="Aptos"/>
              </a:rPr>
              <a:t>UXP // SECURITY &amp; TRUST BY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384048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FF2D91"/>
                </a:solidFill>
                <a:latin typeface="Aptos"/>
              </a:rPr>
              <a:t>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66928"/>
            <a:ext cx="106984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EDF7FF"/>
                </a:solidFill>
                <a:latin typeface="Aptos"/>
              </a:rPr>
              <a:t>Security &amp; Trust by Design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069848"/>
            <a:ext cx="106070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91A6BE"/>
                </a:solidFill>
                <a:latin typeface="Aptos"/>
              </a:rPr>
              <a:t>A universal runtime must not become a universal vulnerability.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94360" y="6400800"/>
            <a:ext cx="10972800" cy="0"/>
          </a:xfrm>
          <a:prstGeom prst="line">
            <a:avLst/>
          </a:prstGeom>
          <a:ln w="10160">
            <a:solidFill>
              <a:srgbClr val="111B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21792" y="6492240"/>
            <a:ext cx="41148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91A6BE"/>
                </a:solidFill>
                <a:latin typeface="Aptos"/>
              </a:rPr>
              <a:t>UNIVERSALLY eXPERIENCE-ABLE PROGRAM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0" y="6492240"/>
            <a:ext cx="393192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0">
                <a:solidFill>
                  <a:srgbClr val="91A6BE"/>
                </a:solidFill>
                <a:latin typeface="Aptos"/>
              </a:rPr>
              <a:t>NARAYANA SCHOOL – FULBARI  •  2026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1645920"/>
            <a:ext cx="3383280" cy="1371600"/>
          </a:xfrm>
          <a:prstGeom prst="roundRect">
            <a:avLst/>
          </a:prstGeom>
          <a:solidFill>
            <a:srgbClr val="0C1322"/>
          </a:solidFill>
          <a:ln w="12700">
            <a:solidFill>
              <a:srgbClr val="00E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1865376"/>
            <a:ext cx="3017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00EFFF"/>
                </a:solidFill>
                <a:latin typeface="Aptos"/>
              </a:rPr>
              <a:t>SANDBOX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286000"/>
            <a:ext cx="2971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EDF7FF"/>
                </a:solidFill>
                <a:latin typeface="Aptos"/>
              </a:rPr>
              <a:t>Limit app access to approved resources.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26280" y="1645920"/>
            <a:ext cx="3383280" cy="1371600"/>
          </a:xfrm>
          <a:prstGeom prst="roundRect">
            <a:avLst/>
          </a:prstGeom>
          <a:solidFill>
            <a:srgbClr val="0C1322"/>
          </a:solidFill>
          <a:ln w="12700">
            <a:solidFill>
              <a:srgbClr val="39F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709160" y="1865376"/>
            <a:ext cx="3017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39FFA6"/>
                </a:solidFill>
                <a:latin typeface="Aptos"/>
              </a:rPr>
              <a:t>PERMISSIONS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60" y="2286000"/>
            <a:ext cx="2971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EDF7FF"/>
                </a:solidFill>
                <a:latin typeface="Aptos"/>
              </a:rPr>
              <a:t>Request only capabilities an app needs.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21040" y="1645920"/>
            <a:ext cx="3383280" cy="1371600"/>
          </a:xfrm>
          <a:prstGeom prst="roundRect">
            <a:avLst/>
          </a:prstGeom>
          <a:solidFill>
            <a:srgbClr val="0C1322"/>
          </a:solidFill>
          <a:ln w="12700">
            <a:solidFill>
              <a:srgbClr val="B94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503920" y="1865376"/>
            <a:ext cx="3017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B94BFF"/>
                </a:solidFill>
                <a:latin typeface="Aptos"/>
              </a:rPr>
              <a:t>INTEGRITY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2286000"/>
            <a:ext cx="2971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EDF7FF"/>
                </a:solidFill>
                <a:latin typeface="Aptos"/>
              </a:rPr>
              <a:t>Validate package structure and signatures.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3474720"/>
            <a:ext cx="3383280" cy="1371600"/>
          </a:xfrm>
          <a:prstGeom prst="roundRect">
            <a:avLst/>
          </a:prstGeom>
          <a:solidFill>
            <a:srgbClr val="0C1322"/>
          </a:solidFill>
          <a:ln w="12700">
            <a:solidFill>
              <a:srgbClr val="357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4400" y="3694176"/>
            <a:ext cx="3017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3570FF"/>
                </a:solidFill>
                <a:latin typeface="Aptos"/>
              </a:rPr>
              <a:t>API VERSIONING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114800"/>
            <a:ext cx="2971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EDF7FF"/>
                </a:solidFill>
                <a:latin typeface="Aptos"/>
              </a:rPr>
              <a:t>Define compatibility and deprecation rules.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26280" y="3474720"/>
            <a:ext cx="3383280" cy="1371600"/>
          </a:xfrm>
          <a:prstGeom prst="roundRect">
            <a:avLst/>
          </a:prstGeom>
          <a:solidFill>
            <a:srgbClr val="0C1322"/>
          </a:solidFill>
          <a:ln w="12700">
            <a:solidFill>
              <a:srgbClr val="FF2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709160" y="3694176"/>
            <a:ext cx="3017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FF2D91"/>
                </a:solidFill>
                <a:latin typeface="Aptos"/>
              </a:rPr>
              <a:t>DEPENDENCIES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09160" y="4114800"/>
            <a:ext cx="2971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EDF7FF"/>
                </a:solidFill>
                <a:latin typeface="Aptos"/>
              </a:rPr>
              <a:t>Track libraries and update procedures.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321040" y="3474720"/>
            <a:ext cx="3383280" cy="1371600"/>
          </a:xfrm>
          <a:prstGeom prst="roundRect">
            <a:avLst/>
          </a:prstGeom>
          <a:solidFill>
            <a:srgbClr val="0C1322"/>
          </a:solidFill>
          <a:ln w="12700">
            <a:solidFill>
              <a:srgbClr val="FFB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503920" y="3694176"/>
            <a:ext cx="3017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FFBE37"/>
                </a:solidFill>
                <a:latin typeface="Aptos"/>
              </a:rPr>
              <a:t>ERROR ISOLATION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4114800"/>
            <a:ext cx="2971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EDF7FF"/>
                </a:solidFill>
                <a:latin typeface="Aptos"/>
              </a:rPr>
              <a:t>Fail safely and provide diagnostics.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5669280"/>
            <a:ext cx="10241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FFBE37"/>
                </a:solidFill>
                <a:latin typeface="Aptos"/>
              </a:rPr>
              <a:t>These are design requirements and roadmap items unless verified in the working prototype.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8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00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" cy="6858000"/>
          </a:xfrm>
          <a:prstGeom prst="rect">
            <a:avLst/>
          </a:prstGeom>
          <a:solidFill>
            <a:srgbClr val="B94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247120" y="164592"/>
            <a:ext cx="73152" cy="73152"/>
          </a:xfrm>
          <a:prstGeom prst="ellipse">
            <a:avLst/>
          </a:prstGeom>
          <a:solidFill>
            <a:srgbClr val="00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448288" y="164592"/>
            <a:ext cx="73152" cy="73152"/>
          </a:xfrm>
          <a:prstGeom prst="ellipse">
            <a:avLst/>
          </a:prstGeom>
          <a:solidFill>
            <a:srgbClr val="FF2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649456" y="164592"/>
            <a:ext cx="73152" cy="73152"/>
          </a:xfrm>
          <a:prstGeom prst="ellipse">
            <a:avLst/>
          </a:prstGeom>
          <a:solidFill>
            <a:srgbClr val="39F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274320"/>
            <a:ext cx="4572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00EFFF"/>
                </a:solidFill>
                <a:latin typeface="Aptos"/>
              </a:rPr>
              <a:t>UXP // DIFFERENTIATION &amp; POSITIONING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384048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FF2D91"/>
                </a:solidFill>
                <a:latin typeface="Aptos"/>
              </a:rPr>
              <a:t>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66928"/>
            <a:ext cx="106984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EDF7FF"/>
                </a:solidFill>
                <a:latin typeface="Aptos"/>
              </a:rPr>
              <a:t>Differentiation &amp; Positioning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069848"/>
            <a:ext cx="106070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91A6BE"/>
                </a:solidFill>
                <a:latin typeface="Aptos"/>
              </a:rPr>
              <a:t>Cross-platform tools already exist; UXP's distinct claim must be specific.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94360" y="6400800"/>
            <a:ext cx="10972800" cy="0"/>
          </a:xfrm>
          <a:prstGeom prst="line">
            <a:avLst/>
          </a:prstGeom>
          <a:ln w="10160">
            <a:solidFill>
              <a:srgbClr val="111B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21792" y="6492240"/>
            <a:ext cx="41148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91A6BE"/>
                </a:solidFill>
                <a:latin typeface="Aptos"/>
              </a:rPr>
              <a:t>UNIVERSALLY eXPERIENCE-ABLE PROGRAM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0" y="6492240"/>
            <a:ext cx="393192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0">
                <a:solidFill>
                  <a:srgbClr val="91A6BE"/>
                </a:solidFill>
                <a:latin typeface="Aptos"/>
              </a:rPr>
              <a:t>NARAYANA SCHOOL – FULBARI  •  2026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1554480"/>
            <a:ext cx="10744200" cy="4434840"/>
          </a:xfrm>
          <a:prstGeom prst="roundRect">
            <a:avLst/>
          </a:prstGeom>
          <a:solidFill>
            <a:srgbClr val="0C1322"/>
          </a:solidFill>
          <a:ln w="12700">
            <a:solidFill>
              <a:srgbClr val="00E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05840" y="1828800"/>
            <a:ext cx="2057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00EFFF"/>
                </a:solidFill>
                <a:latin typeface="Aptos"/>
              </a:rPr>
              <a:t>DIMENSION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1828800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00EFFF"/>
                </a:solidFill>
                <a:latin typeface="Aptos"/>
              </a:rPr>
              <a:t>COMMON FRAMEWORK APPROACH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1828800"/>
            <a:ext cx="3291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00EFFF"/>
                </a:solidFill>
                <a:latin typeface="Aptos"/>
              </a:rPr>
              <a:t>UXP PROPOSED GOAL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005840" y="2267712"/>
            <a:ext cx="10058400" cy="0"/>
          </a:xfrm>
          <a:prstGeom prst="line">
            <a:avLst/>
          </a:prstGeom>
          <a:ln w="8890">
            <a:solidFill>
              <a:srgbClr val="111B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05840" y="2377440"/>
            <a:ext cx="2148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EDF7FF"/>
                </a:solidFill>
                <a:latin typeface="Aptos"/>
              </a:rPr>
              <a:t>App package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377440"/>
            <a:ext cx="3200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91A6BE"/>
                </a:solidFill>
                <a:latin typeface="Aptos"/>
              </a:rPr>
              <a:t>Often tied to a framework's packaging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2377440"/>
            <a:ext cx="3383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EDF7FF"/>
                </a:solidFill>
                <a:latin typeface="Aptos"/>
              </a:rPr>
              <a:t>One defined .uxp format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005840" y="2980944"/>
            <a:ext cx="10058400" cy="0"/>
          </a:xfrm>
          <a:prstGeom prst="line">
            <a:avLst/>
          </a:prstGeom>
          <a:ln w="8890">
            <a:solidFill>
              <a:srgbClr val="111B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005840" y="3090672"/>
            <a:ext cx="2148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EDF7FF"/>
                </a:solidFill>
                <a:latin typeface="Aptos"/>
              </a:rPr>
              <a:t>Language model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3090672"/>
            <a:ext cx="3200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91A6BE"/>
                </a:solidFill>
                <a:latin typeface="Aptos"/>
              </a:rPr>
              <a:t>Usually selected by framework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0" y="3090672"/>
            <a:ext cx="3383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EDF7FF"/>
                </a:solidFill>
                <a:latin typeface="Aptos"/>
              </a:rPr>
              <a:t>Multiple language adapters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005840" y="3694176"/>
            <a:ext cx="10058400" cy="0"/>
          </a:xfrm>
          <a:prstGeom prst="line">
            <a:avLst/>
          </a:prstGeom>
          <a:ln w="8890">
            <a:solidFill>
              <a:srgbClr val="111B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1005840" y="3803904"/>
            <a:ext cx="2148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EDF7FF"/>
                </a:solidFill>
                <a:latin typeface="Aptos"/>
              </a:rPr>
              <a:t>Runtime boundary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3803904"/>
            <a:ext cx="3200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91A6BE"/>
                </a:solidFill>
                <a:latin typeface="Aptos"/>
              </a:rPr>
              <a:t>Varies by tool and architecture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0" y="3803904"/>
            <a:ext cx="3383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EDF7FF"/>
                </a:solidFill>
                <a:latin typeface="Aptos"/>
              </a:rPr>
              <a:t>Standard UXP API contract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1005840" y="4407407"/>
            <a:ext cx="10058400" cy="0"/>
          </a:xfrm>
          <a:prstGeom prst="line">
            <a:avLst/>
          </a:prstGeom>
          <a:ln w="8890">
            <a:solidFill>
              <a:srgbClr val="111B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1005840" y="4517136"/>
            <a:ext cx="2148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EDF7FF"/>
                </a:solidFill>
                <a:latin typeface="Aptos"/>
              </a:rPr>
              <a:t>Governance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4517136"/>
            <a:ext cx="3200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91A6BE"/>
                </a:solidFill>
                <a:latin typeface="Aptos"/>
              </a:rPr>
              <a:t>Framework-specific roadmap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0" y="4517136"/>
            <a:ext cx="3383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EDF7FF"/>
                </a:solidFill>
                <a:latin typeface="Aptos"/>
              </a:rPr>
              <a:t>Versioned open specification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5623560"/>
            <a:ext cx="10241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FFBE37"/>
                </a:solidFill>
                <a:latin typeface="Aptos"/>
              </a:rPr>
              <a:t>Benchmark existing solutions before claiming UXP is unique or superior.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8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00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" cy="6858000"/>
          </a:xfrm>
          <a:prstGeom prst="rect">
            <a:avLst/>
          </a:prstGeom>
          <a:solidFill>
            <a:srgbClr val="B94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247120" y="164592"/>
            <a:ext cx="73152" cy="73152"/>
          </a:xfrm>
          <a:prstGeom prst="ellipse">
            <a:avLst/>
          </a:prstGeom>
          <a:solidFill>
            <a:srgbClr val="00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448288" y="164592"/>
            <a:ext cx="73152" cy="73152"/>
          </a:xfrm>
          <a:prstGeom prst="ellipse">
            <a:avLst/>
          </a:prstGeom>
          <a:solidFill>
            <a:srgbClr val="FF2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649456" y="164592"/>
            <a:ext cx="73152" cy="73152"/>
          </a:xfrm>
          <a:prstGeom prst="ellipse">
            <a:avLst/>
          </a:prstGeom>
          <a:solidFill>
            <a:srgbClr val="39F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274320"/>
            <a:ext cx="4572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00EFFF"/>
                </a:solidFill>
                <a:latin typeface="Aptos"/>
              </a:rPr>
              <a:t>UXP // POTENTIAL SCALE OF IMPACT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384048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FF2D91"/>
                </a:solidFill>
                <a:latin typeface="Aptos"/>
              </a:rPr>
              <a:t>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66928"/>
            <a:ext cx="106984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EDF7FF"/>
                </a:solidFill>
                <a:latin typeface="Aptos"/>
              </a:rPr>
              <a:t>Potential Scale of Impact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069848"/>
            <a:ext cx="106070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91A6BE"/>
                </a:solidFill>
                <a:latin typeface="Aptos"/>
              </a:rPr>
              <a:t>Impact grows with compatibility, documentation and adoption.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94360" y="6400800"/>
            <a:ext cx="10972800" cy="0"/>
          </a:xfrm>
          <a:prstGeom prst="line">
            <a:avLst/>
          </a:prstGeom>
          <a:ln w="10160">
            <a:solidFill>
              <a:srgbClr val="111B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21792" y="6492240"/>
            <a:ext cx="41148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91A6BE"/>
                </a:solidFill>
                <a:latin typeface="Aptos"/>
              </a:rPr>
              <a:t>UNIVERSALLY eXPERIENCE-ABLE PROGRAM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0" y="6492240"/>
            <a:ext cx="393192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0">
                <a:solidFill>
                  <a:srgbClr val="91A6BE"/>
                </a:solidFill>
                <a:latin typeface="Aptos"/>
              </a:rPr>
              <a:t>NARAYANA SCHOOL – FULBARI  •  2026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1783080"/>
            <a:ext cx="2560320" cy="1965960"/>
          </a:xfrm>
          <a:prstGeom prst="roundRect">
            <a:avLst/>
          </a:prstGeom>
          <a:solidFill>
            <a:srgbClr val="0C1322"/>
          </a:solidFill>
          <a:ln w="12700">
            <a:solidFill>
              <a:srgbClr val="00E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673352" y="2011680"/>
            <a:ext cx="566928" cy="566928"/>
          </a:xfrm>
          <a:prstGeom prst="ellipse">
            <a:avLst/>
          </a:prstGeom>
          <a:solidFill>
            <a:srgbClr val="00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673352" y="2011680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50811"/>
                </a:solidFill>
                <a:latin typeface="Aptos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2743200"/>
            <a:ext cx="2286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>
                <a:solidFill>
                  <a:srgbClr val="00EFFF"/>
                </a:solidFill>
                <a:latin typeface="Aptos"/>
              </a:rPr>
              <a:t>STUDENTS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" y="3182112"/>
            <a:ext cx="215798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EDF7FF"/>
                </a:solidFill>
                <a:latin typeface="Aptos"/>
              </a:rPr>
              <a:t>Build one project for more devices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566160" y="1783080"/>
            <a:ext cx="2560320" cy="1965960"/>
          </a:xfrm>
          <a:prstGeom prst="roundRect">
            <a:avLst/>
          </a:prstGeom>
          <a:solidFill>
            <a:srgbClr val="0C1322"/>
          </a:solidFill>
          <a:ln w="12700">
            <a:solidFill>
              <a:srgbClr val="357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4553712" y="2011680"/>
            <a:ext cx="566928" cy="566928"/>
          </a:xfrm>
          <a:prstGeom prst="ellipse">
            <a:avLst/>
          </a:prstGeom>
          <a:solidFill>
            <a:srgbClr val="357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53712" y="2011680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50811"/>
                </a:solidFill>
                <a:latin typeface="Aptos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3320" y="2743200"/>
            <a:ext cx="2286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>
                <a:solidFill>
                  <a:srgbClr val="3570FF"/>
                </a:solidFill>
                <a:latin typeface="Aptos"/>
              </a:rPr>
              <a:t>INDIE DEVELOPERS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67328" y="3182112"/>
            <a:ext cx="215798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EDF7FF"/>
                </a:solidFill>
                <a:latin typeface="Aptos"/>
              </a:rPr>
              <a:t>Reduce duplicate integrations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46520" y="1783080"/>
            <a:ext cx="2560320" cy="1965960"/>
          </a:xfrm>
          <a:prstGeom prst="roundRect">
            <a:avLst/>
          </a:prstGeom>
          <a:solidFill>
            <a:srgbClr val="0C1322"/>
          </a:solidFill>
          <a:ln w="12700">
            <a:solidFill>
              <a:srgbClr val="B94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7434071" y="2011680"/>
            <a:ext cx="566928" cy="566928"/>
          </a:xfrm>
          <a:prstGeom prst="ellipse">
            <a:avLst/>
          </a:prstGeom>
          <a:solidFill>
            <a:srgbClr val="B94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434071" y="2011680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50811"/>
                </a:solidFill>
                <a:latin typeface="Aptos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2743200"/>
            <a:ext cx="2286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>
                <a:solidFill>
                  <a:srgbClr val="B94BFF"/>
                </a:solidFill>
                <a:latin typeface="Aptos"/>
              </a:rPr>
              <a:t>STARTUPS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47688" y="3182112"/>
            <a:ext cx="215798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EDF7FF"/>
                </a:solidFill>
                <a:latin typeface="Aptos"/>
              </a:rPr>
              <a:t>Potentially simplify maintenance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326880" y="1783080"/>
            <a:ext cx="2560320" cy="1965960"/>
          </a:xfrm>
          <a:prstGeom prst="roundRect">
            <a:avLst/>
          </a:prstGeom>
          <a:solidFill>
            <a:srgbClr val="0C1322"/>
          </a:solidFill>
          <a:ln w="12700">
            <a:solidFill>
              <a:srgbClr val="39F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10314432" y="2011680"/>
            <a:ext cx="566928" cy="566928"/>
          </a:xfrm>
          <a:prstGeom prst="ellipse">
            <a:avLst/>
          </a:prstGeom>
          <a:solidFill>
            <a:srgbClr val="39F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314432" y="2011680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50811"/>
                </a:solidFill>
                <a:latin typeface="Aptos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64040" y="2743200"/>
            <a:ext cx="2286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>
                <a:solidFill>
                  <a:srgbClr val="39FFA6"/>
                </a:solidFill>
                <a:latin typeface="Aptos"/>
              </a:rPr>
              <a:t>ORGANIZATIONS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28048" y="3182112"/>
            <a:ext cx="215798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EDF7FF"/>
                </a:solidFill>
                <a:latin typeface="Aptos"/>
              </a:rPr>
              <a:t>Support mixed device environments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4400" y="4434840"/>
            <a:ext cx="10287000" cy="822960"/>
          </a:xfrm>
          <a:prstGeom prst="roundRect">
            <a:avLst/>
          </a:prstGeom>
          <a:solidFill>
            <a:srgbClr val="111B2F"/>
          </a:solidFill>
          <a:ln w="12700">
            <a:solidFill>
              <a:srgbClr val="FFB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14400" y="4617720"/>
            <a:ext cx="2468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FFBE37"/>
                </a:solidFill>
                <a:latin typeface="Aptos"/>
              </a:rPr>
              <a:t>IMPACT METRICS TO TRACK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37560" y="4572000"/>
            <a:ext cx="7406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EDF7FF"/>
                </a:solidFill>
                <a:latin typeface="Aptos"/>
              </a:rPr>
              <a:t>Setup time • shared-code ratio • platform parity • crash-free launches • developer feedback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5669280"/>
            <a:ext cx="10241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FFBE37"/>
                </a:solidFill>
                <a:latin typeface="Aptos"/>
              </a:rPr>
              <a:t>Do not claim time or cost savings until measured against a baseline.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8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00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" cy="6858000"/>
          </a:xfrm>
          <a:prstGeom prst="rect">
            <a:avLst/>
          </a:prstGeom>
          <a:solidFill>
            <a:srgbClr val="B94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247120" y="164592"/>
            <a:ext cx="73152" cy="73152"/>
          </a:xfrm>
          <a:prstGeom prst="ellipse">
            <a:avLst/>
          </a:prstGeom>
          <a:solidFill>
            <a:srgbClr val="00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448288" y="164592"/>
            <a:ext cx="73152" cy="73152"/>
          </a:xfrm>
          <a:prstGeom prst="ellipse">
            <a:avLst/>
          </a:prstGeom>
          <a:solidFill>
            <a:srgbClr val="FF2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649456" y="164592"/>
            <a:ext cx="73152" cy="73152"/>
          </a:xfrm>
          <a:prstGeom prst="ellipse">
            <a:avLst/>
          </a:prstGeom>
          <a:solidFill>
            <a:srgbClr val="39F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274320"/>
            <a:ext cx="4572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00EFFF"/>
                </a:solidFill>
                <a:latin typeface="Aptos"/>
              </a:rPr>
              <a:t>UXP // ROADMAP TO A RELIABLE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384048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FF2D91"/>
                </a:solidFill>
                <a:latin typeface="Aptos"/>
              </a:rPr>
              <a:t>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66928"/>
            <a:ext cx="106984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EDF7FF"/>
                </a:solidFill>
                <a:latin typeface="Aptos"/>
              </a:rPr>
              <a:t>Roadmap to a Reliable Platform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069848"/>
            <a:ext cx="106070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91A6BE"/>
                </a:solidFill>
                <a:latin typeface="Aptos"/>
              </a:rPr>
              <a:t>Each phase should reduce uncertainty with evidence.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94360" y="6400800"/>
            <a:ext cx="10972800" cy="0"/>
          </a:xfrm>
          <a:prstGeom prst="line">
            <a:avLst/>
          </a:prstGeom>
          <a:ln w="10160">
            <a:solidFill>
              <a:srgbClr val="111B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21792" y="6492240"/>
            <a:ext cx="41148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91A6BE"/>
                </a:solidFill>
                <a:latin typeface="Aptos"/>
              </a:rPr>
              <a:t>UNIVERSALLY eXPERIENCE-ABLE PROGRAM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0" y="6492240"/>
            <a:ext cx="393192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0">
                <a:solidFill>
                  <a:srgbClr val="91A6BE"/>
                </a:solidFill>
                <a:latin typeface="Aptos"/>
              </a:rPr>
              <a:t>NARAYANA SCHOOL – FULBARI  •  2026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1737360"/>
            <a:ext cx="566928" cy="566928"/>
          </a:xfrm>
          <a:prstGeom prst="ellipse">
            <a:avLst/>
          </a:prstGeom>
          <a:solidFill>
            <a:srgbClr val="00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1737360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50811"/>
                </a:solidFill>
                <a:latin typeface="Aptos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2514600"/>
            <a:ext cx="1371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00EFFF"/>
                </a:solidFill>
                <a:latin typeface="Aptos"/>
              </a:rPr>
              <a:t>PHASE 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" y="2926080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>
                <a:solidFill>
                  <a:srgbClr val="EDF7FF"/>
                </a:solidFill>
                <a:latin typeface="Aptos"/>
              </a:rPr>
              <a:t>SPECIFY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0" y="3383280"/>
            <a:ext cx="2011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91A6BE"/>
                </a:solidFill>
                <a:latin typeface="Aptos"/>
              </a:rPr>
              <a:t>Format + API contract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298448" y="2020824"/>
            <a:ext cx="1536191" cy="0"/>
          </a:xfrm>
          <a:prstGeom prst="line">
            <a:avLst/>
          </a:prstGeom>
          <a:ln w="19050">
            <a:solidFill>
              <a:srgbClr val="91A6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3063239" y="1737360"/>
            <a:ext cx="566928" cy="566928"/>
          </a:xfrm>
          <a:prstGeom prst="ellipse">
            <a:avLst/>
          </a:prstGeom>
          <a:solidFill>
            <a:srgbClr val="357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063239" y="1737360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50811"/>
                </a:solidFill>
                <a:latin typeface="Aptos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51759" y="2514600"/>
            <a:ext cx="1371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3570FF"/>
                </a:solidFill>
                <a:latin typeface="Aptos"/>
              </a:rPr>
              <a:t>PHASE 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14599" y="2926080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>
                <a:solidFill>
                  <a:srgbClr val="EDF7FF"/>
                </a:solidFill>
                <a:latin typeface="Aptos"/>
              </a:rPr>
              <a:t>PROTOTYPE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31720" y="3383280"/>
            <a:ext cx="2011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91A6BE"/>
                </a:solidFill>
                <a:latin typeface="Aptos"/>
              </a:rPr>
              <a:t>Desktop runtime + app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630168" y="2020824"/>
            <a:ext cx="1536191" cy="0"/>
          </a:xfrm>
          <a:prstGeom prst="line">
            <a:avLst/>
          </a:prstGeom>
          <a:ln w="19050">
            <a:solidFill>
              <a:srgbClr val="91A6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5394959" y="1737360"/>
            <a:ext cx="566928" cy="566928"/>
          </a:xfrm>
          <a:prstGeom prst="ellipse">
            <a:avLst/>
          </a:prstGeom>
          <a:solidFill>
            <a:srgbClr val="B94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394959" y="1737360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50811"/>
                </a:solidFill>
                <a:latin typeface="Aptos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83479" y="2514600"/>
            <a:ext cx="1371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B94BFF"/>
                </a:solidFill>
                <a:latin typeface="Aptos"/>
              </a:rPr>
              <a:t>PHASE 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46320" y="2926080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>
                <a:solidFill>
                  <a:srgbClr val="EDF7FF"/>
                </a:solidFill>
                <a:latin typeface="Aptos"/>
              </a:rPr>
              <a:t>PORT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63440" y="3383280"/>
            <a:ext cx="2011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91A6BE"/>
                </a:solidFill>
                <a:latin typeface="Aptos"/>
              </a:rPr>
              <a:t>Mobile host adapter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961888" y="2020824"/>
            <a:ext cx="1536191" cy="0"/>
          </a:xfrm>
          <a:prstGeom prst="line">
            <a:avLst/>
          </a:prstGeom>
          <a:ln w="19050">
            <a:solidFill>
              <a:srgbClr val="91A6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7726679" y="1737360"/>
            <a:ext cx="566928" cy="566928"/>
          </a:xfrm>
          <a:prstGeom prst="ellipse">
            <a:avLst/>
          </a:prstGeom>
          <a:solidFill>
            <a:srgbClr val="FF2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726679" y="1737360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50811"/>
                </a:solidFill>
                <a:latin typeface="Aptos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199" y="2514600"/>
            <a:ext cx="1371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2D91"/>
                </a:solidFill>
                <a:latin typeface="Aptos"/>
              </a:rPr>
              <a:t>PHASE 04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78040" y="2926080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>
                <a:solidFill>
                  <a:srgbClr val="EDF7FF"/>
                </a:solidFill>
                <a:latin typeface="Aptos"/>
              </a:rPr>
              <a:t>HARDEN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95159" y="3383280"/>
            <a:ext cx="2011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91A6BE"/>
                </a:solidFill>
                <a:latin typeface="Aptos"/>
              </a:rPr>
              <a:t>Security + tests + docs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8293607" y="2020824"/>
            <a:ext cx="1536193" cy="0"/>
          </a:xfrm>
          <a:prstGeom prst="line">
            <a:avLst/>
          </a:prstGeom>
          <a:ln w="19050">
            <a:solidFill>
              <a:srgbClr val="91A6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10058400" y="1737360"/>
            <a:ext cx="566928" cy="566928"/>
          </a:xfrm>
          <a:prstGeom prst="ellipse">
            <a:avLst/>
          </a:prstGeom>
          <a:solidFill>
            <a:srgbClr val="39F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0058400" y="1737360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50811"/>
                </a:solidFill>
                <a:latin typeface="Aptos"/>
              </a:rP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46920" y="2514600"/>
            <a:ext cx="1371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39FFA6"/>
                </a:solidFill>
                <a:latin typeface="Aptos"/>
              </a:rPr>
              <a:t>PHASE 05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509760" y="2926080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>
                <a:solidFill>
                  <a:srgbClr val="EDF7FF"/>
                </a:solidFill>
                <a:latin typeface="Aptos"/>
              </a:rPr>
              <a:t>OPEN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26880" y="3383280"/>
            <a:ext cx="2011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91A6BE"/>
                </a:solidFill>
                <a:latin typeface="Aptos"/>
              </a:rPr>
              <a:t>SDK + community + governance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51560" y="4754880"/>
            <a:ext cx="10058400" cy="777240"/>
          </a:xfrm>
          <a:prstGeom prst="roundRect">
            <a:avLst/>
          </a:prstGeom>
          <a:solidFill>
            <a:srgbClr val="0C1322"/>
          </a:solidFill>
          <a:ln w="12700">
            <a:solidFill>
              <a:srgbClr val="00E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051560" y="4983480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EDF7FF"/>
                </a:solidFill>
                <a:latin typeface="Aptos"/>
              </a:rPr>
              <a:t>GATE TO NEXT PHASE: measurable evidence that the current phase works.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8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00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" cy="6858000"/>
          </a:xfrm>
          <a:prstGeom prst="rect">
            <a:avLst/>
          </a:prstGeom>
          <a:solidFill>
            <a:srgbClr val="B94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247120" y="164592"/>
            <a:ext cx="73152" cy="73152"/>
          </a:xfrm>
          <a:prstGeom prst="ellipse">
            <a:avLst/>
          </a:prstGeom>
          <a:solidFill>
            <a:srgbClr val="00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448288" y="164592"/>
            <a:ext cx="73152" cy="73152"/>
          </a:xfrm>
          <a:prstGeom prst="ellipse">
            <a:avLst/>
          </a:prstGeom>
          <a:solidFill>
            <a:srgbClr val="FF2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649456" y="164592"/>
            <a:ext cx="73152" cy="73152"/>
          </a:xfrm>
          <a:prstGeom prst="ellipse">
            <a:avLst/>
          </a:prstGeom>
          <a:solidFill>
            <a:srgbClr val="39F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274320"/>
            <a:ext cx="4572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00EFFF"/>
                </a:solidFill>
                <a:latin typeface="Aptos"/>
              </a:rPr>
              <a:t>UXP // PROJECT TEAM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384048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FF2D91"/>
                </a:solidFill>
                <a:latin typeface="Aptos"/>
              </a:rPr>
              <a:t>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66928"/>
            <a:ext cx="106984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EDF7FF"/>
                </a:solidFill>
                <a:latin typeface="Aptos"/>
              </a:rPr>
              <a:t>Project Team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069848"/>
            <a:ext cx="106070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91A6BE"/>
                </a:solidFill>
                <a:latin typeface="Aptos"/>
              </a:rPr>
              <a:t>Defined responsibilities for a multidisciplinary student project.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94360" y="6400800"/>
            <a:ext cx="10972800" cy="0"/>
          </a:xfrm>
          <a:prstGeom prst="line">
            <a:avLst/>
          </a:prstGeom>
          <a:ln w="10160">
            <a:solidFill>
              <a:srgbClr val="111B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21792" y="6492240"/>
            <a:ext cx="41148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91A6BE"/>
                </a:solidFill>
                <a:latin typeface="Aptos"/>
              </a:rPr>
              <a:t>UNIVERSALLY eXPERIENCE-ABLE PROGRAM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0" y="6492240"/>
            <a:ext cx="393192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0">
                <a:solidFill>
                  <a:srgbClr val="91A6BE"/>
                </a:solidFill>
                <a:latin typeface="Aptos"/>
              </a:rPr>
              <a:t>NARAYANA SCHOOL – FULBARI  •  2026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1645920"/>
            <a:ext cx="3429000" cy="3246120"/>
          </a:xfrm>
          <a:prstGeom prst="roundRect">
            <a:avLst/>
          </a:prstGeom>
          <a:solidFill>
            <a:srgbClr val="0C1322"/>
          </a:solidFill>
          <a:ln w="12700">
            <a:solidFill>
              <a:srgbClr val="00E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938528" y="1965960"/>
            <a:ext cx="822960" cy="822960"/>
          </a:xfrm>
          <a:prstGeom prst="ellipse">
            <a:avLst/>
          </a:prstGeom>
          <a:solidFill>
            <a:srgbClr val="00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938528" y="1965960"/>
            <a:ext cx="8229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050811"/>
                </a:solidFill>
                <a:latin typeface="Aptos"/>
              </a:rPr>
              <a:t>SA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7" y="3063240"/>
            <a:ext cx="306324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en-US" sz="1400" b="1" dirty="0" smtClean="0">
                <a:solidFill>
                  <a:srgbClr val="EDF7FF"/>
                </a:solidFill>
                <a:latin typeface="Aptos"/>
              </a:rPr>
              <a:t>SHASHWAT </a:t>
            </a:r>
            <a:r>
              <a:rPr sz="1400" b="1" dirty="0" smtClean="0">
                <a:solidFill>
                  <a:srgbClr val="EDF7FF"/>
                </a:solidFill>
                <a:latin typeface="Aptos"/>
              </a:rPr>
              <a:t>ACHARYA</a:t>
            </a:r>
            <a:endParaRPr sz="1400" b="1" dirty="0">
              <a:solidFill>
                <a:srgbClr val="EDF7FF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41247" y="3566160"/>
            <a:ext cx="3063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00EFFF"/>
                </a:solidFill>
                <a:latin typeface="Aptos"/>
              </a:rPr>
              <a:t>LEADER &amp; PROGRAMMER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8407" y="4069080"/>
            <a:ext cx="2788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91A6BE"/>
                </a:solidFill>
                <a:latin typeface="Aptos"/>
              </a:rPr>
              <a:t>Technical leadership • coding • integration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53128" y="1645920"/>
            <a:ext cx="3429000" cy="3246120"/>
          </a:xfrm>
          <a:prstGeom prst="roundRect">
            <a:avLst/>
          </a:prstGeom>
          <a:solidFill>
            <a:srgbClr val="0C1322"/>
          </a:solidFill>
          <a:ln w="12700">
            <a:solidFill>
              <a:srgbClr val="B94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5733288" y="1965960"/>
            <a:ext cx="822960" cy="822960"/>
          </a:xfrm>
          <a:prstGeom prst="ellipse">
            <a:avLst/>
          </a:prstGeom>
          <a:solidFill>
            <a:srgbClr val="B94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733288" y="1965960"/>
            <a:ext cx="8229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050811"/>
                </a:solidFill>
                <a:latin typeface="Aptos"/>
              </a:rPr>
              <a:t>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36008" y="3063240"/>
            <a:ext cx="30632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EDF7FF"/>
                </a:solidFill>
                <a:latin typeface="Aptos"/>
              </a:rPr>
              <a:t>RIDDHIT DAS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36008" y="3566160"/>
            <a:ext cx="3063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B94BFF"/>
                </a:solidFill>
                <a:latin typeface="Aptos"/>
              </a:rPr>
              <a:t>CREATOR &amp; VISIONARY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73168" y="4069080"/>
            <a:ext cx="2788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91A6BE"/>
                </a:solidFill>
                <a:latin typeface="Aptos"/>
              </a:rPr>
              <a:t>Concept • system design • product direction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47888" y="1645920"/>
            <a:ext cx="3429000" cy="3246120"/>
          </a:xfrm>
          <a:prstGeom prst="roundRect">
            <a:avLst/>
          </a:prstGeom>
          <a:solidFill>
            <a:srgbClr val="0C1322"/>
          </a:solidFill>
          <a:ln w="12700">
            <a:solidFill>
              <a:srgbClr val="39F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9528048" y="1965960"/>
            <a:ext cx="822960" cy="822960"/>
          </a:xfrm>
          <a:prstGeom prst="ellipse">
            <a:avLst/>
          </a:prstGeom>
          <a:solidFill>
            <a:srgbClr val="39F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528048" y="1965960"/>
            <a:ext cx="8229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050811"/>
                </a:solidFill>
                <a:latin typeface="Aptos"/>
              </a:rPr>
              <a:t>AR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30768" y="3063240"/>
            <a:ext cx="30632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EDF7FF"/>
                </a:solidFill>
                <a:latin typeface="Aptos"/>
              </a:rPr>
              <a:t>ABU REHAN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30768" y="3566160"/>
            <a:ext cx="3063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39FFA6"/>
                </a:solidFill>
                <a:latin typeface="Aptos"/>
              </a:rPr>
              <a:t>PROMOTION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67928" y="4069080"/>
            <a:ext cx="2788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91A6BE"/>
                </a:solidFill>
                <a:latin typeface="Aptos"/>
              </a:rPr>
              <a:t>Communication • pitch • outreach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05840" y="5212080"/>
            <a:ext cx="10149840" cy="640080"/>
          </a:xfrm>
          <a:prstGeom prst="roundRect">
            <a:avLst/>
          </a:prstGeom>
          <a:solidFill>
            <a:srgbClr val="0C1322"/>
          </a:solidFill>
          <a:ln w="12700">
            <a:solidFill>
              <a:srgbClr val="FFB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05840" y="5394960"/>
            <a:ext cx="10149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BE37"/>
                </a:solidFill>
                <a:latin typeface="Aptos"/>
              </a:rPr>
              <a:t>NARAYANA SCHOOL – FULBARI  •  STUDENT INNOVATION PROJECT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8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00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" cy="6858000"/>
          </a:xfrm>
          <a:prstGeom prst="rect">
            <a:avLst/>
          </a:prstGeom>
          <a:solidFill>
            <a:srgbClr val="B94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247120" y="164592"/>
            <a:ext cx="73152" cy="73152"/>
          </a:xfrm>
          <a:prstGeom prst="ellipse">
            <a:avLst/>
          </a:prstGeom>
          <a:solidFill>
            <a:srgbClr val="00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448288" y="164592"/>
            <a:ext cx="73152" cy="73152"/>
          </a:xfrm>
          <a:prstGeom prst="ellipse">
            <a:avLst/>
          </a:prstGeom>
          <a:solidFill>
            <a:srgbClr val="FF2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649456" y="164592"/>
            <a:ext cx="73152" cy="73152"/>
          </a:xfrm>
          <a:prstGeom prst="ellipse">
            <a:avLst/>
          </a:prstGeom>
          <a:solidFill>
            <a:srgbClr val="39F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274320"/>
            <a:ext cx="4572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00EFFF"/>
                </a:solidFill>
                <a:latin typeface="Aptos"/>
              </a:rPr>
              <a:t>UXP // 60-SECOND PITCH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384048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FF2D91"/>
                </a:solidFill>
                <a:latin typeface="Aptos"/>
              </a:rPr>
              <a:t>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66928"/>
            <a:ext cx="10698480" cy="4924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2600" b="1" dirty="0">
                <a:solidFill>
                  <a:srgbClr val="EDF7FF"/>
                </a:solidFill>
                <a:latin typeface="Aptos"/>
              </a:rPr>
              <a:t>5</a:t>
            </a:r>
            <a:r>
              <a:rPr sz="2600" b="1" dirty="0" smtClean="0">
                <a:solidFill>
                  <a:srgbClr val="EDF7FF"/>
                </a:solidFill>
                <a:latin typeface="Aptos"/>
              </a:rPr>
              <a:t>-Second </a:t>
            </a:r>
            <a:r>
              <a:rPr sz="2600" b="1" dirty="0">
                <a:solidFill>
                  <a:srgbClr val="EDF7FF"/>
                </a:solidFill>
                <a:latin typeface="Aptos"/>
              </a:rPr>
              <a:t>Pitch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069848"/>
            <a:ext cx="106070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91A6BE"/>
                </a:solidFill>
                <a:latin typeface="Aptos"/>
              </a:rPr>
              <a:t>A concise spoken summary for the competition panel.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94360" y="6400800"/>
            <a:ext cx="10972800" cy="0"/>
          </a:xfrm>
          <a:prstGeom prst="line">
            <a:avLst/>
          </a:prstGeom>
          <a:ln w="10160">
            <a:solidFill>
              <a:srgbClr val="111B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21792" y="6492240"/>
            <a:ext cx="41148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91A6BE"/>
                </a:solidFill>
                <a:latin typeface="Aptos"/>
              </a:rPr>
              <a:t>UNIVERSALLY eXPERIENCE-ABLE PROGRAM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0" y="6492240"/>
            <a:ext cx="393192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0">
                <a:solidFill>
                  <a:srgbClr val="91A6BE"/>
                </a:solidFill>
                <a:latin typeface="Aptos"/>
              </a:rPr>
              <a:t>NARAYANA SCHOOL – FULBARI  •  2026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1600200"/>
            <a:ext cx="10561320" cy="4389120"/>
          </a:xfrm>
          <a:prstGeom prst="roundRect">
            <a:avLst/>
          </a:prstGeom>
          <a:solidFill>
            <a:srgbClr val="0C1322"/>
          </a:solidFill>
          <a:ln w="12700">
            <a:solidFill>
              <a:srgbClr val="00E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88720" y="2011680"/>
            <a:ext cx="9829800" cy="107721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1600" dirty="0">
                <a:solidFill>
                  <a:srgbClr val="EDF7FF"/>
                </a:solidFill>
                <a:latin typeface="Aptos"/>
              </a:rPr>
              <a:t>UXP stands for Universally </a:t>
            </a:r>
            <a:r>
              <a:rPr lang="en-US" sz="1600" dirty="0" err="1">
                <a:solidFill>
                  <a:srgbClr val="EDF7FF"/>
                </a:solidFill>
                <a:latin typeface="Aptos"/>
              </a:rPr>
              <a:t>eXperience</a:t>
            </a:r>
            <a:r>
              <a:rPr lang="en-US" sz="1600" dirty="0">
                <a:solidFill>
                  <a:srgbClr val="EDF7FF"/>
                </a:solidFill>
                <a:latin typeface="Aptos"/>
              </a:rPr>
              <a:t>-able Program. It aims to make apps work across different devices using one common app package and a shared system. Developers could use different programming languages while following the same rules. We plan to test this idea by creating a simple notes app that runs on desktop and mobile. Our goal is to make app development easier and more accessible.</a:t>
            </a:r>
            <a:endParaRPr sz="1600" b="0" dirty="0">
              <a:solidFill>
                <a:srgbClr val="EDF7FF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14400" y="5623560"/>
            <a:ext cx="10241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FFBE37"/>
                </a:solidFill>
                <a:latin typeface="Aptos"/>
              </a:rPr>
              <a:t>Replace future-tense claims with demonstrated results only after testing.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8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914400" y="365760"/>
            <a:ext cx="0" cy="5943600"/>
          </a:xfrm>
          <a:prstGeom prst="line">
            <a:avLst/>
          </a:prstGeom>
          <a:ln w="4445">
            <a:solidFill>
              <a:srgbClr val="111B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828800" y="365760"/>
            <a:ext cx="0" cy="5943600"/>
          </a:xfrm>
          <a:prstGeom prst="line">
            <a:avLst/>
          </a:prstGeom>
          <a:ln w="4445">
            <a:solidFill>
              <a:srgbClr val="111B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743200" y="365760"/>
            <a:ext cx="0" cy="5943600"/>
          </a:xfrm>
          <a:prstGeom prst="line">
            <a:avLst/>
          </a:prstGeom>
          <a:ln w="4445">
            <a:solidFill>
              <a:srgbClr val="111B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657600" y="365760"/>
            <a:ext cx="0" cy="5943600"/>
          </a:xfrm>
          <a:prstGeom prst="line">
            <a:avLst/>
          </a:prstGeom>
          <a:ln w="4445">
            <a:solidFill>
              <a:srgbClr val="111B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572000" y="365760"/>
            <a:ext cx="0" cy="5943600"/>
          </a:xfrm>
          <a:prstGeom prst="line">
            <a:avLst/>
          </a:prstGeom>
          <a:ln w="4445">
            <a:solidFill>
              <a:srgbClr val="111B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486400" y="365760"/>
            <a:ext cx="0" cy="5943600"/>
          </a:xfrm>
          <a:prstGeom prst="line">
            <a:avLst/>
          </a:prstGeom>
          <a:ln w="4445">
            <a:solidFill>
              <a:srgbClr val="111B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400800" y="365760"/>
            <a:ext cx="0" cy="5943600"/>
          </a:xfrm>
          <a:prstGeom prst="line">
            <a:avLst/>
          </a:prstGeom>
          <a:ln w="4445">
            <a:solidFill>
              <a:srgbClr val="111B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315200" y="365760"/>
            <a:ext cx="0" cy="5943600"/>
          </a:xfrm>
          <a:prstGeom prst="line">
            <a:avLst/>
          </a:prstGeom>
          <a:ln w="4445">
            <a:solidFill>
              <a:srgbClr val="111B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229600" y="365760"/>
            <a:ext cx="0" cy="5943600"/>
          </a:xfrm>
          <a:prstGeom prst="line">
            <a:avLst/>
          </a:prstGeom>
          <a:ln w="4445">
            <a:solidFill>
              <a:srgbClr val="111B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144000" y="365760"/>
            <a:ext cx="0" cy="5943600"/>
          </a:xfrm>
          <a:prstGeom prst="line">
            <a:avLst/>
          </a:prstGeom>
          <a:ln w="4445">
            <a:solidFill>
              <a:srgbClr val="111B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0058400" y="365760"/>
            <a:ext cx="0" cy="5943600"/>
          </a:xfrm>
          <a:prstGeom prst="line">
            <a:avLst/>
          </a:prstGeom>
          <a:ln w="4445">
            <a:solidFill>
              <a:srgbClr val="111B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972800" y="365760"/>
            <a:ext cx="0" cy="5943600"/>
          </a:xfrm>
          <a:prstGeom prst="line">
            <a:avLst/>
          </a:prstGeom>
          <a:ln w="4445">
            <a:solidFill>
              <a:srgbClr val="111B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49808" y="914400"/>
            <a:ext cx="2926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800" b="1">
                <a:solidFill>
                  <a:srgbClr val="EDF7FF"/>
                </a:solidFill>
                <a:latin typeface="Aptos"/>
              </a:rPr>
              <a:t>UXP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1783080"/>
            <a:ext cx="6858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0EFFF"/>
                </a:solidFill>
                <a:latin typeface="Aptos"/>
              </a:rPr>
              <a:t>UNIVERSALLY eXPERIENCE-ABLE PROGRAM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2514600"/>
            <a:ext cx="7498079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300" b="1">
                <a:solidFill>
                  <a:srgbClr val="EDF7FF"/>
                </a:solidFill>
                <a:latin typeface="Aptos"/>
              </a:rPr>
              <a:t>BUILD ONCE.
EXPERIENCE EVERYWHERE.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" y="4023360"/>
            <a:ext cx="6766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1A6BE"/>
                </a:solidFill>
                <a:latin typeface="Aptos"/>
              </a:rPr>
              <a:t>A proposed universal application layer—validated one milestone at a time.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1248" y="4846320"/>
            <a:ext cx="2743200" cy="329184"/>
          </a:xfrm>
          <a:prstGeom prst="roundRect">
            <a:avLst/>
          </a:prstGeom>
          <a:solidFill>
            <a:srgbClr val="111B2F"/>
          </a:solidFill>
          <a:ln w="12700">
            <a:solidFill>
              <a:srgbClr val="00E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41248" y="4878324"/>
            <a:ext cx="2743200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00EFFF"/>
                </a:solidFill>
                <a:latin typeface="Aptos"/>
              </a:rPr>
              <a:t>THANK YOU  //  QUESTIONS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" y="5669280"/>
            <a:ext cx="6400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000" b="1" dirty="0" smtClean="0">
                <a:solidFill>
                  <a:srgbClr val="EDF7FF"/>
                </a:solidFill>
                <a:latin typeface="Aptos"/>
              </a:rPr>
              <a:t>• S</a:t>
            </a:r>
            <a:r>
              <a:rPr lang="en-US" sz="1000" b="1" dirty="0" smtClean="0">
                <a:solidFill>
                  <a:srgbClr val="EDF7FF"/>
                </a:solidFill>
                <a:latin typeface="Aptos"/>
              </a:rPr>
              <a:t>HASHWAT ACHARYA .</a:t>
            </a:r>
            <a:r>
              <a:rPr lang="en-US" sz="1000" b="1" dirty="0" smtClean="0">
                <a:solidFill>
                  <a:srgbClr val="EDF7FF"/>
                </a:solidFill>
                <a:latin typeface="Aptos"/>
              </a:rPr>
              <a:t> RIDDHIT  DAS  •  ABU REHAN</a:t>
            </a:r>
            <a:endParaRPr lang="en-US" sz="1000" b="1" dirty="0">
              <a:solidFill>
                <a:srgbClr val="EDF7FF"/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315200" y="5669280"/>
            <a:ext cx="3840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39FFA6"/>
                </a:solidFill>
                <a:latin typeface="Aptos"/>
              </a:rPr>
              <a:t>NARAYANA SCHOOL – FULBARI</a:t>
            </a:r>
          </a:p>
        </p:txBody>
      </p:sp>
      <p:sp>
        <p:nvSpPr>
          <p:cNvPr id="23" name="Hexagon 22"/>
          <p:cNvSpPr/>
          <p:nvPr/>
        </p:nvSpPr>
        <p:spPr>
          <a:xfrm>
            <a:off x="8778240" y="1234440"/>
            <a:ext cx="2011680" cy="2011680"/>
          </a:xfrm>
          <a:prstGeom prst="hexagon">
            <a:avLst/>
          </a:prstGeom>
          <a:solidFill>
            <a:srgbClr val="0C1322"/>
          </a:solidFill>
          <a:ln w="25400">
            <a:solidFill>
              <a:srgbClr val="00E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Hexagon 23"/>
          <p:cNvSpPr/>
          <p:nvPr/>
        </p:nvSpPr>
        <p:spPr>
          <a:xfrm>
            <a:off x="9098280" y="1554480"/>
            <a:ext cx="1371600" cy="1371600"/>
          </a:xfrm>
          <a:prstGeom prst="hexagon">
            <a:avLst/>
          </a:prstGeom>
          <a:solidFill>
            <a:srgbClr val="111B2F"/>
          </a:solidFill>
          <a:ln w="19050">
            <a:solidFill>
              <a:srgbClr val="B94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144000" y="1965960"/>
            <a:ext cx="12801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1">
                <a:solidFill>
                  <a:srgbClr val="00EFFF"/>
                </a:solidFill>
                <a:latin typeface="Aptos"/>
              </a:rPr>
              <a:t>UXP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60" y="3611880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91A6BE"/>
                </a:solidFill>
                <a:latin typeface="Aptos"/>
              </a:rPr>
              <a:t>UNIVERSAL APP LAYER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0922" y="5103809"/>
            <a:ext cx="311495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>
                <a:solidFill>
                  <a:srgbClr val="E60000"/>
                </a:solidFill>
                <a:latin typeface="Isometra" pitchFamily="2" charset="0"/>
              </a:rPr>
              <a:t>NEXTGEN</a:t>
            </a:r>
            <a:endParaRPr lang="en-US" sz="3200" dirty="0">
              <a:solidFill>
                <a:srgbClr val="E60000"/>
              </a:solidFill>
              <a:latin typeface="Isometra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1474</Words>
  <Application>Microsoft Office PowerPoint</Application>
  <PresentationFormat>Custom</PresentationFormat>
  <Paragraphs>323</Paragraphs>
  <Slides>18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NEOX</cp:lastModifiedBy>
  <cp:revision>3</cp:revision>
  <dcterms:created xsi:type="dcterms:W3CDTF">2013-01-27T09:14:16Z</dcterms:created>
  <dcterms:modified xsi:type="dcterms:W3CDTF">2026-10-13T10:04:04Z</dcterms:modified>
  <cp:category/>
</cp:coreProperties>
</file>